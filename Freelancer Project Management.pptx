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1" d="100"/>
          <a:sy n="101" d="100"/>
        </p:scale>
        <p:origin x="108" y="1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078625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a MERN-based system that helps a freelancer manage clients, projects, tasks, deadlines and payments. Mention the four technologies on the right and that the next slides follow the demo order: architecture, CRUD, REST APIs, React UI, role-based access, dashboard.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the problem in one breath: freelancers juggle clients, projects, tasks, deadlines and payments in scattered tools. Then read the six objectives, each of which is shown in the live demo.</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flow left to right. The browser runs React. Axios sends requests to the Express API on Node. Express validates the JWT, applies role checks, and talks to MongoDB through Mongoose. Responses travel back as JSON.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collection is a Mongoose model. Projects reference a client by ObjectId, and tasks and payments reference a project. The role field on User drives access control later in the deck.</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add a new client, then add a project linked to that client. Open both in the lists, edit a field such as status or deadline, then delete each. After every step, point out the updated list in the interface.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in Postman, log in first and copy the token, then send a GET to /api/clients with the Authorization header. Alternatively open the browser Network tab while using the interface and show the same requests and JSON responses.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the app here. Move through Login, Dashboard, Clients, Projects, Tasks and Payments, then stay on the dashboard and point to each tile. The values come from the dashboard endpoint, so they change as records are added or edited. Replace the tiles with a screenshot of your own dashboard if you prefer.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four steps along the top: login, password check and JWT, token sent with each request, and middleware checking the role. A missing or invalid token returns 401 and a valid token with the wrong role returns 403. Demo: log in as Admin or Freelancer and show the full menu with edit and delete buttons, then log in as a Client and show the limited view. Adjust the matrix if your implementation differs.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the demo in this order. Before presenting, seed a few sample clients and projects and create one Admin or Freelancer account and one Client account so the role comparison is quick. Close by recapping: MongoDB stores the data, Express and Node provide the REST APIs, React provides the interface, and JWT with roles controls access.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4F2EC"/>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45480"/>
            <a:ext cx="10566400" cy="446980"/>
          </a:xfrm>
          <a:prstGeom prst="rect">
            <a:avLst/>
          </a:prstGeom>
          <a:noFill/>
          <a:ln/>
        </p:spPr>
        <p:txBody>
          <a:bodyPr wrap="square" lIns="0" tIns="0" rIns="0" bIns="0" rtlCol="0" anchor="t"/>
          <a:lstStyle>
            <a:lvl1pPr marL="0" indent="0" algn="l">
              <a:lnSpc>
                <a:spcPct val="115000"/>
              </a:lnSpc>
              <a:buNone/>
              <a:defRPr lang="en-US" sz="3200" dirty="0">
                <a:solidFill>
                  <a:srgbClr val="0F1B2D"/>
                </a:solidFill>
                <a:latin typeface="DM Sans" pitchFamily="34" charset="0"/>
                <a:ea typeface="DM Sans" pitchFamily="34" charset="-122"/>
                <a:cs typeface="DM Sans"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897261"/>
            <a:ext cx="10566400" cy="4147939"/>
          </a:xfrm>
          <a:prstGeom prst="rect">
            <a:avLst/>
          </a:prstGeom>
          <a:noFill/>
          <a:ln/>
        </p:spPr>
        <p:txBody>
          <a:bodyPr wrap="square" lIns="0" tIns="0" rIns="0" bIns="0" rtlCol="0" anchor="t"/>
          <a:lstStyle>
            <a:lvl1pPr marL="0" indent="0" algn="l">
              <a:lnSpc>
                <a:spcPct val="140000"/>
              </a:lnSpc>
              <a:buNone/>
              <a:defRPr lang="en-US" sz="1600" dirty="0">
                <a:solidFill>
                  <a:srgbClr val="0F1B2D"/>
                </a:solidFill>
                <a:latin typeface="DM Sans" pitchFamily="34" charset="0"/>
                <a:ea typeface="DM Sans" pitchFamily="34" charset="-122"/>
                <a:cs typeface="DM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4F2EC"/>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45480"/>
            <a:ext cx="10566400" cy="446980"/>
          </a:xfrm>
          <a:prstGeom prst="rect">
            <a:avLst/>
          </a:prstGeom>
          <a:noFill/>
          <a:ln/>
        </p:spPr>
        <p:txBody>
          <a:bodyPr wrap="square" lIns="0" tIns="0" rIns="0" bIns="0" rtlCol="0" anchor="t"/>
          <a:lstStyle>
            <a:lvl1pPr marL="0" indent="0" algn="l">
              <a:lnSpc>
                <a:spcPct val="115000"/>
              </a:lnSpc>
              <a:buNone/>
              <a:defRPr lang="en-US" sz="3200" dirty="0">
                <a:solidFill>
                  <a:srgbClr val="0F1B2D"/>
                </a:solidFill>
                <a:latin typeface="DM Sans" pitchFamily="34" charset="0"/>
                <a:ea typeface="DM Sans" pitchFamily="34" charset="-122"/>
                <a:cs typeface="DM Sans"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897261"/>
            <a:ext cx="10566400" cy="4147939"/>
          </a:xfrm>
          <a:prstGeom prst="rect">
            <a:avLst/>
          </a:prstGeom>
          <a:noFill/>
          <a:ln/>
        </p:spPr>
        <p:txBody>
          <a:bodyPr wrap="square" lIns="0" tIns="0" rIns="0" bIns="0" rtlCol="0" anchor="t"/>
          <a:lstStyle>
            <a:lvl1pPr marL="0" indent="0" algn="l">
              <a:lnSpc>
                <a:spcPct val="140000"/>
              </a:lnSpc>
              <a:buNone/>
              <a:defRPr lang="en-US" sz="1600" dirty="0">
                <a:solidFill>
                  <a:srgbClr val="0F1B2D"/>
                </a:solidFill>
                <a:latin typeface="DM Sans" pitchFamily="34" charset="0"/>
                <a:ea typeface="DM Sans" pitchFamily="34" charset="-122"/>
                <a:cs typeface="DM Sans"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2D"/>
        </a:solidFill>
        <a:effectLst/>
      </p:bgPr>
    </p:bg>
    <p:spTree>
      <p:nvGrpSpPr>
        <p:cNvPr id="1" name=""/>
        <p:cNvGrpSpPr/>
        <p:nvPr/>
      </p:nvGrpSpPr>
      <p:grpSpPr>
        <a:xfrm>
          <a:off x="0" y="0"/>
          <a:ext cx="0" cy="0"/>
          <a:chOff x="0" y="0"/>
          <a:chExt cx="0" cy="0"/>
        </a:xfrm>
      </p:grpSpPr>
      <p:sp>
        <p:nvSpPr>
          <p:cNvPr id="2" name="Text 0"/>
          <p:cNvSpPr/>
          <p:nvPr/>
        </p:nvSpPr>
        <p:spPr>
          <a:xfrm>
            <a:off x="812800" y="2110780"/>
            <a:ext cx="5912612" cy="256480"/>
          </a:xfrm>
          <a:prstGeom prst="rect">
            <a:avLst/>
          </a:prstGeom>
          <a:noFill/>
          <a:ln/>
        </p:spPr>
        <p:txBody>
          <a:bodyPr wrap="square" lIns="0" tIns="0" rIns="0" bIns="0" rtlCol="0" anchor="t">
            <a:normAutofit/>
          </a:bodyPr>
          <a:lstStyle/>
          <a:p>
            <a:pPr marL="0" indent="0" algn="l">
              <a:lnSpc>
                <a:spcPts val="1820"/>
              </a:lnSpc>
              <a:buNone/>
            </a:pPr>
            <a:r>
              <a:rPr lang="en-US" sz="1300" b="1" kern="0" spc="150" dirty="0">
                <a:solidFill>
                  <a:srgbClr val="2DD4BF"/>
                </a:solidFill>
                <a:latin typeface="DM Sans" pitchFamily="34" charset="0"/>
                <a:ea typeface="DM Sans" pitchFamily="34" charset="-122"/>
                <a:cs typeface="DM Sans" pitchFamily="34" charset="-120"/>
              </a:rPr>
              <a:t>FULL-STACK PROJECT · MERN</a:t>
            </a:r>
            <a:endParaRPr lang="en-US" sz="1300" dirty="0"/>
          </a:p>
        </p:txBody>
      </p:sp>
      <p:sp>
        <p:nvSpPr>
          <p:cNvPr id="3" name="Text 1"/>
          <p:cNvSpPr>
            <a:spLocks noGrp="1"/>
          </p:cNvSpPr>
          <p:nvPr>
            <p:ph type="title"/>
          </p:nvPr>
        </p:nvSpPr>
        <p:spPr>
          <a:xfrm>
            <a:off x="812800" y="2545060"/>
            <a:ext cx="5912612" cy="1252141"/>
          </a:xfrm>
          <a:prstGeom prst="rect">
            <a:avLst/>
          </a:prstGeom>
          <a:noFill/>
          <a:ln/>
        </p:spPr>
        <p:txBody>
          <a:bodyPr wrap="square" lIns="0" tIns="0" rIns="0" bIns="0" rtlCol="0" anchor="t">
            <a:normAutofit/>
          </a:bodyPr>
          <a:lstStyle/>
          <a:p>
            <a:pPr marL="0" indent="0" algn="l">
              <a:lnSpc>
                <a:spcPts val="4830"/>
              </a:lnSpc>
              <a:buNone/>
            </a:pPr>
            <a:r>
              <a:rPr lang="en-US" sz="4600" b="1" i="0" dirty="0">
                <a:solidFill>
                  <a:srgbClr val="F4F7FB"/>
                </a:solidFill>
                <a:latin typeface="DM Sans" pitchFamily="34" charset="0"/>
                <a:ea typeface="DM Sans" pitchFamily="34" charset="-122"/>
                <a:cs typeface="DM Sans" pitchFamily="34" charset="-120"/>
              </a:rPr>
              <a:t>Freelancer Project Management</a:t>
            </a:r>
            <a:endParaRPr lang="en-US" sz="4600" dirty="0"/>
          </a:p>
        </p:txBody>
      </p:sp>
      <p:sp>
        <p:nvSpPr>
          <p:cNvPr id="4" name="Text 2"/>
          <p:cNvSpPr/>
          <p:nvPr/>
        </p:nvSpPr>
        <p:spPr>
          <a:xfrm>
            <a:off x="812800" y="3975001"/>
            <a:ext cx="5912612" cy="215265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AAB8CC"/>
                </a:solidFill>
                <a:latin typeface="DM Sans" pitchFamily="34" charset="0"/>
                <a:ea typeface="DM Sans" pitchFamily="34" charset="-122"/>
                <a:cs typeface="DM Sans" pitchFamily="34" charset="-120"/>
              </a:rPr>
              <a:t>One system to manage clients, projects, tasks, deadlines and payments</a:t>
            </a:r>
            <a:r>
              <a:rPr lang="en-US" sz="1600" dirty="0" smtClean="0">
                <a:solidFill>
                  <a:srgbClr val="AAB8CC"/>
                </a:solidFill>
                <a:latin typeface="DM Sans" pitchFamily="34" charset="0"/>
                <a:ea typeface="DM Sans" pitchFamily="34" charset="-122"/>
                <a:cs typeface="DM Sans" pitchFamily="34" charset="-120"/>
              </a:rPr>
              <a:t>.</a:t>
            </a:r>
          </a:p>
          <a:p>
            <a:pPr marL="0" indent="0" algn="l">
              <a:lnSpc>
                <a:spcPts val="2240"/>
              </a:lnSpc>
              <a:buNone/>
            </a:pPr>
            <a:endParaRPr lang="en-US" sz="1600" dirty="0">
              <a:solidFill>
                <a:srgbClr val="AAB8CC"/>
              </a:solidFill>
              <a:latin typeface="DM Sans" pitchFamily="34" charset="0"/>
              <a:ea typeface="DM Sans" pitchFamily="34" charset="-122"/>
            </a:endParaRPr>
          </a:p>
          <a:p>
            <a:pPr marL="0" indent="0" algn="l">
              <a:lnSpc>
                <a:spcPts val="2240"/>
              </a:lnSpc>
              <a:buNone/>
            </a:pPr>
            <a:r>
              <a:rPr lang="en-US" sz="1600" dirty="0" smtClean="0">
                <a:solidFill>
                  <a:srgbClr val="AAB8CC"/>
                </a:solidFill>
                <a:latin typeface="DM Sans" pitchFamily="34" charset="0"/>
                <a:ea typeface="DM Sans" pitchFamily="34" charset="-122"/>
              </a:rPr>
              <a:t>MALISHKA-25MVCSMR0537</a:t>
            </a:r>
          </a:p>
          <a:p>
            <a:pPr>
              <a:lnSpc>
                <a:spcPts val="2240"/>
              </a:lnSpc>
            </a:pPr>
            <a:r>
              <a:rPr lang="en-US" sz="1600" dirty="0" smtClean="0">
                <a:solidFill>
                  <a:srgbClr val="AAB8CC"/>
                </a:solidFill>
                <a:latin typeface="DM Sans" pitchFamily="34" charset="0"/>
                <a:ea typeface="DM Sans" pitchFamily="34" charset="-122"/>
              </a:rPr>
              <a:t>AMY PEARL-25MVCSMR0461</a:t>
            </a:r>
          </a:p>
          <a:p>
            <a:pPr>
              <a:lnSpc>
                <a:spcPts val="2240"/>
              </a:lnSpc>
            </a:pPr>
            <a:r>
              <a:rPr lang="en-US" sz="1600" dirty="0" smtClean="0">
                <a:solidFill>
                  <a:srgbClr val="AAB8CC"/>
                </a:solidFill>
                <a:latin typeface="DM Sans" pitchFamily="34" charset="0"/>
                <a:ea typeface="DM Sans" pitchFamily="34" charset="-122"/>
              </a:rPr>
              <a:t>SRILAKSHMI-25MVCSMR0520</a:t>
            </a:r>
          </a:p>
          <a:p>
            <a:pPr>
              <a:lnSpc>
                <a:spcPts val="2240"/>
              </a:lnSpc>
            </a:pPr>
            <a:r>
              <a:rPr lang="en-US" sz="1600" dirty="0" smtClean="0">
                <a:solidFill>
                  <a:srgbClr val="AAB8CC"/>
                </a:solidFill>
                <a:latin typeface="DM Sans" pitchFamily="34" charset="0"/>
                <a:ea typeface="DM Sans" pitchFamily="34" charset="-122"/>
              </a:rPr>
              <a:t>SARADA DEVI-25MVCSMR0517</a:t>
            </a:r>
            <a:endParaRPr lang="en-US" sz="1600" dirty="0"/>
          </a:p>
          <a:p>
            <a:pPr>
              <a:lnSpc>
                <a:spcPts val="2240"/>
              </a:lnSpc>
            </a:pPr>
            <a:endParaRPr lang="en-US" sz="1600" dirty="0"/>
          </a:p>
          <a:p>
            <a:pPr>
              <a:lnSpc>
                <a:spcPts val="2240"/>
              </a:lnSpc>
            </a:pPr>
            <a:endParaRPr lang="en-US" sz="1600" dirty="0" smtClean="0">
              <a:solidFill>
                <a:srgbClr val="AAB8CC"/>
              </a:solidFill>
              <a:latin typeface="DM Sans" pitchFamily="34" charset="0"/>
              <a:ea typeface="DM Sans" pitchFamily="34" charset="-122"/>
            </a:endParaRPr>
          </a:p>
          <a:p>
            <a:pPr>
              <a:lnSpc>
                <a:spcPts val="2240"/>
              </a:lnSpc>
            </a:pPr>
            <a:endParaRPr lang="en-US" sz="1600" dirty="0"/>
          </a:p>
          <a:p>
            <a:pPr>
              <a:lnSpc>
                <a:spcPts val="2240"/>
              </a:lnSpc>
            </a:pPr>
            <a:endParaRPr lang="en-US" sz="1600" dirty="0"/>
          </a:p>
          <a:p>
            <a:pPr marL="0" indent="0" algn="l">
              <a:lnSpc>
                <a:spcPts val="2240"/>
              </a:lnSpc>
              <a:buNone/>
            </a:pPr>
            <a:endParaRPr lang="en-US" sz="1600" dirty="0"/>
          </a:p>
        </p:txBody>
      </p:sp>
      <p:sp>
        <p:nvSpPr>
          <p:cNvPr id="6" name="Text 4"/>
          <p:cNvSpPr/>
          <p:nvPr/>
        </p:nvSpPr>
        <p:spPr>
          <a:xfrm>
            <a:off x="7372350" y="1868289"/>
            <a:ext cx="1663700" cy="609600"/>
          </a:xfrm>
          <a:prstGeom prst="rect">
            <a:avLst/>
          </a:prstGeom>
          <a:noFill/>
          <a:ln/>
        </p:spPr>
        <p:txBody>
          <a:bodyPr wrap="square" lIns="0" tIns="0" rIns="0" bIns="0" rtlCol="0" anchor="t">
            <a:normAutofit/>
          </a:bodyPr>
          <a:lstStyle/>
          <a:p>
            <a:pPr marL="0" indent="0" algn="l">
              <a:lnSpc>
                <a:spcPts val="4600"/>
              </a:lnSpc>
              <a:buNone/>
            </a:pPr>
            <a:endParaRPr lang="en-US" sz="4600" dirty="0"/>
          </a:p>
        </p:txBody>
      </p:sp>
      <p:sp>
        <p:nvSpPr>
          <p:cNvPr id="21" name="Text 19"/>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2E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kern="0" spc="150" dirty="0">
                <a:solidFill>
                  <a:srgbClr val="0F766E"/>
                </a:solidFill>
                <a:latin typeface="DM Sans" pitchFamily="34" charset="0"/>
                <a:ea typeface="DM Sans" pitchFamily="34" charset="-122"/>
                <a:cs typeface="DM Sans" pitchFamily="34" charset="-120"/>
              </a:rPr>
              <a:t>PROBLEM AND OBJECTIVES</a:t>
            </a:r>
            <a:endParaRPr lang="en-US" sz="1300" dirty="0"/>
          </a:p>
        </p:txBody>
      </p:sp>
      <p:sp>
        <p:nvSpPr>
          <p:cNvPr id="3" name="Text 1"/>
          <p:cNvSpPr>
            <a:spLocks noGrp="1"/>
          </p:cNvSpPr>
          <p:nvPr>
            <p:ph type="title"/>
          </p:nvPr>
        </p:nvSpPr>
        <p:spPr>
          <a:xfrm>
            <a:off x="812800" y="114548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0F1B2D"/>
                </a:solidFill>
                <a:latin typeface="DM Sans" pitchFamily="34" charset="0"/>
                <a:ea typeface="DM Sans" pitchFamily="34" charset="-122"/>
                <a:cs typeface="DM Sans" pitchFamily="34" charset="-120"/>
              </a:rPr>
              <a:t>Manage freelance work in one MERN system</a:t>
            </a:r>
            <a:endParaRPr lang="en-US" sz="3200" dirty="0"/>
          </a:p>
        </p:txBody>
      </p:sp>
      <p:sp>
        <p:nvSpPr>
          <p:cNvPr id="4" name="Shape 2"/>
          <p:cNvSpPr/>
          <p:nvPr/>
        </p:nvSpPr>
        <p:spPr>
          <a:xfrm>
            <a:off x="815975" y="1900436"/>
            <a:ext cx="4757341" cy="2690813"/>
          </a:xfrm>
          <a:prstGeom prst="roundRect">
            <a:avLst>
              <a:gd name="adj" fmla="val 4602"/>
            </a:avLst>
          </a:prstGeom>
          <a:solidFill>
            <a:srgbClr val="FBFAF7"/>
          </a:solidFill>
          <a:ln w="6350">
            <a:solidFill>
              <a:srgbClr val="DDD9CE"/>
            </a:solidFill>
            <a:prstDash val="solid"/>
          </a:ln>
        </p:spPr>
      </p:sp>
      <p:sp>
        <p:nvSpPr>
          <p:cNvPr id="5" name="Text 3"/>
          <p:cNvSpPr/>
          <p:nvPr/>
        </p:nvSpPr>
        <p:spPr>
          <a:xfrm>
            <a:off x="1073150" y="2157611"/>
            <a:ext cx="4370280"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F1B2D"/>
                </a:solidFill>
                <a:latin typeface="DM Sans" pitchFamily="34" charset="0"/>
                <a:ea typeface="DM Sans" pitchFamily="34" charset="-122"/>
                <a:cs typeface="DM Sans" pitchFamily="34" charset="-120"/>
              </a:rPr>
              <a:t>The problem</a:t>
            </a:r>
            <a:endParaRPr lang="en-US" sz="1800" dirty="0"/>
          </a:p>
        </p:txBody>
      </p:sp>
      <p:sp>
        <p:nvSpPr>
          <p:cNvPr id="6" name="Text 4"/>
          <p:cNvSpPr/>
          <p:nvPr/>
        </p:nvSpPr>
        <p:spPr>
          <a:xfrm>
            <a:off x="1073150" y="2533452"/>
            <a:ext cx="4370280" cy="1092200"/>
          </a:xfrm>
          <a:prstGeom prst="rect">
            <a:avLst/>
          </a:prstGeom>
          <a:noFill/>
          <a:ln/>
        </p:spPr>
        <p:txBody>
          <a:bodyPr wrap="square" lIns="0" tIns="0" rIns="0" bIns="0" rtlCol="0" anchor="t">
            <a:normAutofit/>
          </a:bodyPr>
          <a:lstStyle/>
          <a:p>
            <a:pPr marL="0" indent="0" algn="l">
              <a:lnSpc>
                <a:spcPts val="2100"/>
              </a:lnSpc>
              <a:buNone/>
            </a:pPr>
            <a:r>
              <a:rPr lang="en-US" sz="1400" dirty="0">
                <a:solidFill>
                  <a:srgbClr val="3F4A5A"/>
                </a:solidFill>
                <a:latin typeface="DM Sans" pitchFamily="34" charset="0"/>
                <a:ea typeface="DM Sans" pitchFamily="34" charset="-122"/>
                <a:cs typeface="DM Sans" pitchFamily="34" charset="-120"/>
              </a:rPr>
              <a:t>Freelancers track clients, projects, tasks, deadlines and payments across scattered tools. This project builds a MERN-based system that manages all of them together, with the data stored in MongoDB.</a:t>
            </a:r>
            <a:endParaRPr lang="en-US" sz="1400" dirty="0"/>
          </a:p>
        </p:txBody>
      </p:sp>
      <p:sp>
        <p:nvSpPr>
          <p:cNvPr id="7" name="Shape 5"/>
          <p:cNvSpPr/>
          <p:nvPr/>
        </p:nvSpPr>
        <p:spPr>
          <a:xfrm>
            <a:off x="5779691" y="1897261"/>
            <a:ext cx="5599509" cy="2697163"/>
          </a:xfrm>
          <a:prstGeom prst="roundRect">
            <a:avLst>
              <a:gd name="adj" fmla="val 4709"/>
            </a:avLst>
          </a:prstGeom>
          <a:solidFill>
            <a:srgbClr val="0F1B2D"/>
          </a:solidFill>
          <a:ln/>
        </p:spPr>
      </p:sp>
      <p:sp>
        <p:nvSpPr>
          <p:cNvPr id="8" name="Text 6"/>
          <p:cNvSpPr/>
          <p:nvPr/>
        </p:nvSpPr>
        <p:spPr>
          <a:xfrm>
            <a:off x="6033691" y="2151261"/>
            <a:ext cx="5244255"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2DD4BF"/>
                </a:solidFill>
                <a:latin typeface="DM Sans" pitchFamily="34" charset="0"/>
                <a:ea typeface="DM Sans" pitchFamily="34" charset="-122"/>
                <a:cs typeface="DM Sans" pitchFamily="34" charset="-120"/>
              </a:rPr>
              <a:t>Objectives</a:t>
            </a:r>
            <a:endParaRPr lang="en-US" sz="1800" dirty="0"/>
          </a:p>
        </p:txBody>
      </p:sp>
      <p:sp>
        <p:nvSpPr>
          <p:cNvPr id="9" name="Text 7"/>
          <p:cNvSpPr/>
          <p:nvPr/>
        </p:nvSpPr>
        <p:spPr>
          <a:xfrm>
            <a:off x="6118273" y="2527102"/>
            <a:ext cx="5152053" cy="1838722"/>
          </a:xfrm>
          <a:prstGeom prst="rect">
            <a:avLst/>
          </a:prstGeom>
          <a:noFill/>
          <a:ln/>
        </p:spPr>
        <p:txBody>
          <a:bodyPr wrap="square" lIns="0" tIns="0" rIns="0" bIns="0" rtlCol="0" anchor="t">
            <a:normAutofit/>
          </a:bodyPr>
          <a:lstStyle/>
          <a:p>
            <a:pPr marL="169418" indent="-169418" algn="l">
              <a:lnSpc>
                <a:spcPts val="2380"/>
              </a:lnSpc>
              <a:buSzPct val="100000"/>
              <a:buChar char="•"/>
            </a:pPr>
            <a:r>
              <a:rPr lang="en-US" sz="1400" dirty="0">
                <a:solidFill>
                  <a:srgbClr val="EAF0F8"/>
                </a:solidFill>
                <a:latin typeface="DM Sans" pitchFamily="34" charset="0"/>
                <a:ea typeface="DM Sans" pitchFamily="34" charset="-122"/>
                <a:cs typeface="DM Sans" pitchFamily="34" charset="-120"/>
              </a:rPr>
              <a:t>Demonstrate MERN stack development</a:t>
            </a:r>
            <a:endParaRPr lang="en-US" sz="1400" dirty="0"/>
          </a:p>
          <a:p>
            <a:pPr marL="169418" indent="-169418" algn="l">
              <a:lnSpc>
                <a:spcPts val="2380"/>
              </a:lnSpc>
              <a:buSzPct val="100000"/>
              <a:buChar char="•"/>
            </a:pPr>
            <a:r>
              <a:rPr lang="en-US" sz="1400" dirty="0">
                <a:solidFill>
                  <a:srgbClr val="EAF0F8"/>
                </a:solidFill>
                <a:latin typeface="DM Sans" pitchFamily="34" charset="0"/>
                <a:ea typeface="DM Sans" pitchFamily="34" charset="-122"/>
                <a:cs typeface="DM Sans" pitchFamily="34" charset="-120"/>
              </a:rPr>
              <a:t>CRUD operations with MongoDB</a:t>
            </a:r>
            <a:endParaRPr lang="en-US" sz="1400" dirty="0"/>
          </a:p>
          <a:p>
            <a:pPr marL="169418" indent="-169418" algn="l">
              <a:lnSpc>
                <a:spcPts val="2380"/>
              </a:lnSpc>
              <a:buSzPct val="100000"/>
              <a:buChar char="•"/>
            </a:pPr>
            <a:r>
              <a:rPr lang="en-US" sz="1400" dirty="0">
                <a:solidFill>
                  <a:srgbClr val="EAF0F8"/>
                </a:solidFill>
                <a:latin typeface="DM Sans" pitchFamily="34" charset="0"/>
                <a:ea typeface="DM Sans" pitchFamily="34" charset="-122"/>
                <a:cs typeface="DM Sans" pitchFamily="34" charset="-120"/>
              </a:rPr>
              <a:t>REST APIs with Node.js and Express.js</a:t>
            </a:r>
            <a:endParaRPr lang="en-US" sz="1400" dirty="0"/>
          </a:p>
          <a:p>
            <a:pPr marL="169418" indent="-169418" algn="l">
              <a:lnSpc>
                <a:spcPts val="2380"/>
              </a:lnSpc>
              <a:buSzPct val="100000"/>
              <a:buChar char="•"/>
            </a:pPr>
            <a:r>
              <a:rPr lang="en-US" sz="1400" dirty="0">
                <a:solidFill>
                  <a:srgbClr val="EAF0F8"/>
                </a:solidFill>
                <a:latin typeface="DM Sans" pitchFamily="34" charset="0"/>
                <a:ea typeface="DM Sans" pitchFamily="34" charset="-122"/>
                <a:cs typeface="DM Sans" pitchFamily="34" charset="-120"/>
              </a:rPr>
              <a:t>Frontend built with React.js</a:t>
            </a:r>
            <a:endParaRPr lang="en-US" sz="1400" dirty="0"/>
          </a:p>
          <a:p>
            <a:pPr marL="169418" indent="-169418" algn="l">
              <a:lnSpc>
                <a:spcPts val="2380"/>
              </a:lnSpc>
              <a:buSzPct val="100000"/>
              <a:buChar char="•"/>
            </a:pPr>
            <a:r>
              <a:rPr lang="en-US" sz="1400" dirty="0">
                <a:solidFill>
                  <a:srgbClr val="EAF0F8"/>
                </a:solidFill>
                <a:latin typeface="DM Sans" pitchFamily="34" charset="0"/>
                <a:ea typeface="DM Sans" pitchFamily="34" charset="-122"/>
                <a:cs typeface="DM Sans" pitchFamily="34" charset="-120"/>
              </a:rPr>
              <a:t>Authentication and role-based access</a:t>
            </a:r>
            <a:endParaRPr lang="en-US" sz="1400" dirty="0"/>
          </a:p>
          <a:p>
            <a:pPr marL="169418" indent="-169418" algn="l">
              <a:lnSpc>
                <a:spcPts val="2380"/>
              </a:lnSpc>
              <a:buSzPct val="100000"/>
              <a:buChar char="•"/>
            </a:pPr>
            <a:r>
              <a:rPr lang="en-US" sz="1400" dirty="0">
                <a:solidFill>
                  <a:srgbClr val="EAF0F8"/>
                </a:solidFill>
                <a:latin typeface="DM Sans" pitchFamily="34" charset="0"/>
                <a:ea typeface="DM Sans" pitchFamily="34" charset="-122"/>
                <a:cs typeface="DM Sans" pitchFamily="34" charset="-120"/>
              </a:rPr>
              <a:t>Clear display of project information</a:t>
            </a:r>
            <a:endParaRPr lang="en-US" sz="1400" dirty="0"/>
          </a:p>
        </p:txBody>
      </p:sp>
      <p:sp>
        <p:nvSpPr>
          <p:cNvPr id="10" name="Text 8"/>
          <p:cNvSpPr/>
          <p:nvPr/>
        </p:nvSpPr>
        <p:spPr>
          <a:xfrm>
            <a:off x="812800" y="6238280"/>
            <a:ext cx="65405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472"/>
                </a:solidFill>
                <a:latin typeface="DM Sans" pitchFamily="34" charset="0"/>
                <a:ea typeface="DM Sans" pitchFamily="34" charset="-122"/>
                <a:cs typeface="DM Sans" pitchFamily="34" charset="-120"/>
              </a:rPr>
              <a:t>Freelancer Project Management · MERN Stack</a:t>
            </a:r>
            <a:endParaRPr lang="en-US" sz="1200" dirty="0"/>
          </a:p>
        </p:txBody>
      </p:sp>
      <p:sp>
        <p:nvSpPr>
          <p:cNvPr id="11" name="Text 9"/>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472"/>
                </a:solidFill>
                <a:latin typeface="DM Sans" pitchFamily="34" charset="0"/>
                <a:ea typeface="DM Sans" pitchFamily="34" charset="-122"/>
                <a:cs typeface="DM Sans" pitchFamily="34" charset="-120"/>
              </a:rPr>
              <a:t>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B2D"/>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kern="0" spc="150" dirty="0">
                <a:solidFill>
                  <a:srgbClr val="2DD4BF"/>
                </a:solidFill>
                <a:latin typeface="DM Sans" pitchFamily="34" charset="0"/>
                <a:ea typeface="DM Sans" pitchFamily="34" charset="-122"/>
                <a:cs typeface="DM Sans" pitchFamily="34" charset="-120"/>
              </a:rPr>
              <a:t>MERN ARCHITECTURE</a:t>
            </a:r>
            <a:endParaRPr lang="en-US" sz="1300" dirty="0"/>
          </a:p>
        </p:txBody>
      </p:sp>
      <p:sp>
        <p:nvSpPr>
          <p:cNvPr id="3" name="Text 1"/>
          <p:cNvSpPr>
            <a:spLocks noGrp="1"/>
          </p:cNvSpPr>
          <p:nvPr>
            <p:ph type="title"/>
          </p:nvPr>
        </p:nvSpPr>
        <p:spPr>
          <a:xfrm>
            <a:off x="812800" y="114548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F4F7FB"/>
                </a:solidFill>
                <a:latin typeface="DM Sans" pitchFamily="34" charset="0"/>
                <a:ea typeface="DM Sans" pitchFamily="34" charset="-122"/>
                <a:cs typeface="DM Sans" pitchFamily="34" charset="-120"/>
              </a:rPr>
              <a:t>Three tiers, one JSON conversation</a:t>
            </a:r>
            <a:endParaRPr lang="en-US" sz="3200" dirty="0"/>
          </a:p>
        </p:txBody>
      </p:sp>
      <p:sp>
        <p:nvSpPr>
          <p:cNvPr id="4" name="Shape 2"/>
          <p:cNvSpPr/>
          <p:nvPr/>
        </p:nvSpPr>
        <p:spPr>
          <a:xfrm>
            <a:off x="815975" y="1900436"/>
            <a:ext cx="2940050" cy="1799233"/>
          </a:xfrm>
          <a:prstGeom prst="roundRect">
            <a:avLst>
              <a:gd name="adj" fmla="val 6882"/>
            </a:avLst>
          </a:prstGeom>
          <a:solidFill>
            <a:srgbClr val="172742"/>
          </a:solidFill>
          <a:ln w="6350">
            <a:solidFill>
              <a:srgbClr val="26395C"/>
            </a:solidFill>
            <a:prstDash val="solid"/>
          </a:ln>
        </p:spPr>
      </p:sp>
      <p:sp>
        <p:nvSpPr>
          <p:cNvPr id="5" name="Text 3"/>
          <p:cNvSpPr/>
          <p:nvPr/>
        </p:nvSpPr>
        <p:spPr>
          <a:xfrm>
            <a:off x="1047750" y="2132211"/>
            <a:ext cx="2550795"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DD4BF"/>
                </a:solidFill>
                <a:latin typeface="DM Sans" pitchFamily="34" charset="0"/>
                <a:ea typeface="DM Sans" pitchFamily="34" charset="-122"/>
                <a:cs typeface="DM Sans" pitchFamily="34" charset="-120"/>
              </a:rPr>
              <a:t>FRONTEND</a:t>
            </a:r>
            <a:endParaRPr lang="en-US" sz="1200" dirty="0"/>
          </a:p>
        </p:txBody>
      </p:sp>
      <p:sp>
        <p:nvSpPr>
          <p:cNvPr id="6" name="Text 4"/>
          <p:cNvSpPr/>
          <p:nvPr/>
        </p:nvSpPr>
        <p:spPr>
          <a:xfrm>
            <a:off x="1047750" y="2396331"/>
            <a:ext cx="2550795"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4F7FB"/>
                </a:solidFill>
                <a:latin typeface="DM Sans" pitchFamily="34" charset="0"/>
                <a:ea typeface="DM Sans" pitchFamily="34" charset="-122"/>
                <a:cs typeface="DM Sans" pitchFamily="34" charset="-120"/>
              </a:rPr>
              <a:t>React.js</a:t>
            </a:r>
            <a:endParaRPr lang="en-US" sz="1800" dirty="0"/>
          </a:p>
        </p:txBody>
      </p:sp>
      <p:sp>
        <p:nvSpPr>
          <p:cNvPr id="7" name="Text 5"/>
          <p:cNvSpPr/>
          <p:nvPr/>
        </p:nvSpPr>
        <p:spPr>
          <a:xfrm>
            <a:off x="1047750" y="2721372"/>
            <a:ext cx="2550795" cy="771922"/>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AAB8CC"/>
                </a:solidFill>
                <a:latin typeface="DM Sans" pitchFamily="34" charset="0"/>
                <a:ea typeface="DM Sans" pitchFamily="34" charset="-122"/>
                <a:cs typeface="DM Sans" pitchFamily="34" charset="-120"/>
              </a:rPr>
              <a:t>Pages and components</a:t>
            </a:r>
            <a:endParaRPr lang="en-US" sz="1400" dirty="0"/>
          </a:p>
          <a:p>
            <a:pPr marL="0" indent="0" algn="l">
              <a:lnSpc>
                <a:spcPts val="1960"/>
              </a:lnSpc>
              <a:buNone/>
            </a:pPr>
            <a:r>
              <a:rPr lang="en-US" sz="1400" dirty="0">
                <a:solidFill>
                  <a:srgbClr val="AAB8CC"/>
                </a:solidFill>
                <a:latin typeface="DM Sans" pitchFamily="34" charset="0"/>
                <a:ea typeface="DM Sans" pitchFamily="34" charset="-122"/>
                <a:cs typeface="DM Sans" pitchFamily="34" charset="-120"/>
              </a:rPr>
              <a:t>Axios API calls</a:t>
            </a:r>
            <a:endParaRPr lang="en-US" sz="1400" dirty="0"/>
          </a:p>
          <a:p>
            <a:pPr marL="0" indent="0" algn="l">
              <a:lnSpc>
                <a:spcPts val="1960"/>
              </a:lnSpc>
              <a:buNone/>
            </a:pPr>
            <a:r>
              <a:rPr lang="en-US" sz="1400" dirty="0">
                <a:solidFill>
                  <a:srgbClr val="AAB8CC"/>
                </a:solidFill>
                <a:latin typeface="DM Sans" pitchFamily="34" charset="0"/>
                <a:ea typeface="DM Sans" pitchFamily="34" charset="-122"/>
                <a:cs typeface="DM Sans" pitchFamily="34" charset="-120"/>
              </a:rPr>
              <a:t>Router and context</a:t>
            </a:r>
            <a:endParaRPr lang="en-US" sz="1400" dirty="0"/>
          </a:p>
        </p:txBody>
      </p:sp>
      <p:pic>
        <p:nvPicPr>
          <p:cNvPr id="8" name="Image 0" descr="arrow-right"/>
          <p:cNvPicPr>
            <a:picLocks noChangeAspect="1"/>
          </p:cNvPicPr>
          <p:nvPr/>
        </p:nvPicPr>
        <p:blipFill>
          <a:blip r:embed="rId3"/>
          <a:srcRect/>
          <a:stretch/>
        </p:blipFill>
        <p:spPr>
          <a:xfrm>
            <a:off x="3911600" y="2660352"/>
            <a:ext cx="558800" cy="279400"/>
          </a:xfrm>
          <a:prstGeom prst="rect">
            <a:avLst/>
          </a:prstGeom>
        </p:spPr>
      </p:pic>
      <p:sp>
        <p:nvSpPr>
          <p:cNvPr id="9" name="Shape 6"/>
          <p:cNvSpPr/>
          <p:nvPr/>
        </p:nvSpPr>
        <p:spPr>
          <a:xfrm>
            <a:off x="4625975" y="1900436"/>
            <a:ext cx="2940050" cy="1799233"/>
          </a:xfrm>
          <a:prstGeom prst="roundRect">
            <a:avLst>
              <a:gd name="adj" fmla="val 6882"/>
            </a:avLst>
          </a:prstGeom>
          <a:solidFill>
            <a:srgbClr val="172742"/>
          </a:solidFill>
          <a:ln w="6350">
            <a:solidFill>
              <a:srgbClr val="26395C"/>
            </a:solidFill>
            <a:prstDash val="solid"/>
          </a:ln>
        </p:spPr>
      </p:sp>
      <p:sp>
        <p:nvSpPr>
          <p:cNvPr id="10" name="Text 7"/>
          <p:cNvSpPr/>
          <p:nvPr/>
        </p:nvSpPr>
        <p:spPr>
          <a:xfrm>
            <a:off x="4857750" y="2132211"/>
            <a:ext cx="2550795"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DD4BF"/>
                </a:solidFill>
                <a:latin typeface="DM Sans" pitchFamily="34" charset="0"/>
                <a:ea typeface="DM Sans" pitchFamily="34" charset="-122"/>
                <a:cs typeface="DM Sans" pitchFamily="34" charset="-120"/>
              </a:rPr>
              <a:t>BACKEND</a:t>
            </a:r>
            <a:endParaRPr lang="en-US" sz="1200" dirty="0"/>
          </a:p>
        </p:txBody>
      </p:sp>
      <p:sp>
        <p:nvSpPr>
          <p:cNvPr id="11" name="Text 8"/>
          <p:cNvSpPr/>
          <p:nvPr/>
        </p:nvSpPr>
        <p:spPr>
          <a:xfrm>
            <a:off x="4857750" y="2396331"/>
            <a:ext cx="2550795"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4F7FB"/>
                </a:solidFill>
                <a:latin typeface="DM Sans" pitchFamily="34" charset="0"/>
                <a:ea typeface="DM Sans" pitchFamily="34" charset="-122"/>
                <a:cs typeface="DM Sans" pitchFamily="34" charset="-120"/>
              </a:rPr>
              <a:t>Node + Express</a:t>
            </a:r>
            <a:endParaRPr lang="en-US" sz="1800" dirty="0"/>
          </a:p>
        </p:txBody>
      </p:sp>
      <p:sp>
        <p:nvSpPr>
          <p:cNvPr id="12" name="Text 9"/>
          <p:cNvSpPr/>
          <p:nvPr/>
        </p:nvSpPr>
        <p:spPr>
          <a:xfrm>
            <a:off x="4857750" y="2721372"/>
            <a:ext cx="2550795" cy="771922"/>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AAB8CC"/>
                </a:solidFill>
                <a:latin typeface="DM Sans" pitchFamily="34" charset="0"/>
                <a:ea typeface="DM Sans" pitchFamily="34" charset="-122"/>
                <a:cs typeface="DM Sans" pitchFamily="34" charset="-120"/>
              </a:rPr>
              <a:t>REST routes</a:t>
            </a:r>
            <a:endParaRPr lang="en-US" sz="1400" dirty="0"/>
          </a:p>
          <a:p>
            <a:pPr marL="0" indent="0" algn="l">
              <a:lnSpc>
                <a:spcPts val="1960"/>
              </a:lnSpc>
              <a:buNone/>
            </a:pPr>
            <a:r>
              <a:rPr lang="en-US" sz="1400" dirty="0">
                <a:solidFill>
                  <a:srgbClr val="AAB8CC"/>
                </a:solidFill>
                <a:latin typeface="DM Sans" pitchFamily="34" charset="0"/>
                <a:ea typeface="DM Sans" pitchFamily="34" charset="-122"/>
                <a:cs typeface="DM Sans" pitchFamily="34" charset="-120"/>
              </a:rPr>
              <a:t>JWT and role checks</a:t>
            </a:r>
            <a:endParaRPr lang="en-US" sz="1400" dirty="0"/>
          </a:p>
          <a:p>
            <a:pPr marL="0" indent="0" algn="l">
              <a:lnSpc>
                <a:spcPts val="1960"/>
              </a:lnSpc>
              <a:buNone/>
            </a:pPr>
            <a:r>
              <a:rPr lang="en-US" sz="1400" dirty="0">
                <a:solidFill>
                  <a:srgbClr val="AAB8CC"/>
                </a:solidFill>
                <a:latin typeface="DM Sans" pitchFamily="34" charset="0"/>
                <a:ea typeface="DM Sans" pitchFamily="34" charset="-122"/>
                <a:cs typeface="DM Sans" pitchFamily="34" charset="-120"/>
              </a:rPr>
              <a:t>Controllers</a:t>
            </a:r>
            <a:endParaRPr lang="en-US" sz="1400" dirty="0"/>
          </a:p>
        </p:txBody>
      </p:sp>
      <p:pic>
        <p:nvPicPr>
          <p:cNvPr id="13" name="Image 1" descr="arrow-right"/>
          <p:cNvPicPr>
            <a:picLocks noChangeAspect="1"/>
          </p:cNvPicPr>
          <p:nvPr/>
        </p:nvPicPr>
        <p:blipFill>
          <a:blip r:embed="rId3"/>
          <a:srcRect/>
          <a:stretch/>
        </p:blipFill>
        <p:spPr>
          <a:xfrm>
            <a:off x="7721600" y="2660352"/>
            <a:ext cx="558800" cy="279400"/>
          </a:xfrm>
          <a:prstGeom prst="rect">
            <a:avLst/>
          </a:prstGeom>
        </p:spPr>
      </p:pic>
      <p:sp>
        <p:nvSpPr>
          <p:cNvPr id="14" name="Shape 10"/>
          <p:cNvSpPr/>
          <p:nvPr/>
        </p:nvSpPr>
        <p:spPr>
          <a:xfrm>
            <a:off x="8435975" y="1900436"/>
            <a:ext cx="2940050" cy="1799233"/>
          </a:xfrm>
          <a:prstGeom prst="roundRect">
            <a:avLst>
              <a:gd name="adj" fmla="val 6882"/>
            </a:avLst>
          </a:prstGeom>
          <a:solidFill>
            <a:srgbClr val="172742"/>
          </a:solidFill>
          <a:ln w="6350">
            <a:solidFill>
              <a:srgbClr val="26395C"/>
            </a:solidFill>
            <a:prstDash val="solid"/>
          </a:ln>
        </p:spPr>
      </p:sp>
      <p:sp>
        <p:nvSpPr>
          <p:cNvPr id="15" name="Text 11"/>
          <p:cNvSpPr/>
          <p:nvPr/>
        </p:nvSpPr>
        <p:spPr>
          <a:xfrm>
            <a:off x="8667750" y="2132211"/>
            <a:ext cx="2550795"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DD4BF"/>
                </a:solidFill>
                <a:latin typeface="DM Sans" pitchFamily="34" charset="0"/>
                <a:ea typeface="DM Sans" pitchFamily="34" charset="-122"/>
                <a:cs typeface="DM Sans" pitchFamily="34" charset="-120"/>
              </a:rPr>
              <a:t>DATABASE</a:t>
            </a:r>
            <a:endParaRPr lang="en-US" sz="1200" dirty="0"/>
          </a:p>
        </p:txBody>
      </p:sp>
      <p:sp>
        <p:nvSpPr>
          <p:cNvPr id="16" name="Text 12"/>
          <p:cNvSpPr/>
          <p:nvPr/>
        </p:nvSpPr>
        <p:spPr>
          <a:xfrm>
            <a:off x="8667750" y="2396331"/>
            <a:ext cx="2550795"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4F7FB"/>
                </a:solidFill>
                <a:latin typeface="DM Sans" pitchFamily="34" charset="0"/>
                <a:ea typeface="DM Sans" pitchFamily="34" charset="-122"/>
                <a:cs typeface="DM Sans" pitchFamily="34" charset="-120"/>
              </a:rPr>
              <a:t>MongoDB</a:t>
            </a:r>
            <a:endParaRPr lang="en-US" sz="1800" dirty="0"/>
          </a:p>
        </p:txBody>
      </p:sp>
      <p:sp>
        <p:nvSpPr>
          <p:cNvPr id="17" name="Text 13"/>
          <p:cNvSpPr/>
          <p:nvPr/>
        </p:nvSpPr>
        <p:spPr>
          <a:xfrm>
            <a:off x="8667750" y="2721372"/>
            <a:ext cx="2550795" cy="771922"/>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AAB8CC"/>
                </a:solidFill>
                <a:latin typeface="DM Sans" pitchFamily="34" charset="0"/>
                <a:ea typeface="DM Sans" pitchFamily="34" charset="-122"/>
                <a:cs typeface="DM Sans" pitchFamily="34" charset="-120"/>
              </a:rPr>
              <a:t>Mongoose schemas</a:t>
            </a:r>
            <a:endParaRPr lang="en-US" sz="1400" dirty="0"/>
          </a:p>
          <a:p>
            <a:pPr marL="0" indent="0" algn="l">
              <a:lnSpc>
                <a:spcPts val="1960"/>
              </a:lnSpc>
              <a:buNone/>
            </a:pPr>
            <a:r>
              <a:rPr lang="en-US" sz="1400" dirty="0">
                <a:solidFill>
                  <a:srgbClr val="AAB8CC"/>
                </a:solidFill>
                <a:latin typeface="DM Sans" pitchFamily="34" charset="0"/>
                <a:ea typeface="DM Sans" pitchFamily="34" charset="-122"/>
                <a:cs typeface="DM Sans" pitchFamily="34" charset="-120"/>
              </a:rPr>
              <a:t>Users and clients</a:t>
            </a:r>
            <a:endParaRPr lang="en-US" sz="1400" dirty="0"/>
          </a:p>
          <a:p>
            <a:pPr marL="0" indent="0" algn="l">
              <a:lnSpc>
                <a:spcPts val="1960"/>
              </a:lnSpc>
              <a:buNone/>
            </a:pPr>
            <a:r>
              <a:rPr lang="en-US" sz="1400" dirty="0">
                <a:solidFill>
                  <a:srgbClr val="AAB8CC"/>
                </a:solidFill>
                <a:latin typeface="DM Sans" pitchFamily="34" charset="0"/>
                <a:ea typeface="DM Sans" pitchFamily="34" charset="-122"/>
                <a:cs typeface="DM Sans" pitchFamily="34" charset="-120"/>
              </a:rPr>
              <a:t>Projects, tasks, payments</a:t>
            </a:r>
            <a:endParaRPr lang="en-US" sz="1400" dirty="0"/>
          </a:p>
        </p:txBody>
      </p:sp>
      <p:sp>
        <p:nvSpPr>
          <p:cNvPr id="18" name="Text 14"/>
          <p:cNvSpPr/>
          <p:nvPr/>
        </p:nvSpPr>
        <p:spPr>
          <a:xfrm>
            <a:off x="812800" y="4007644"/>
            <a:ext cx="10883392"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AAB8CC"/>
                </a:solidFill>
                <a:latin typeface="DM Sans" pitchFamily="34" charset="0"/>
                <a:ea typeface="DM Sans" pitchFamily="34" charset="-122"/>
                <a:cs typeface="DM Sans" pitchFamily="34" charset="-120"/>
              </a:rPr>
              <a:t>React sends JSON requests with a JWT in the Authorization header. Express checks the token, reads or writes MongoDB, and returns JSON to the interface.</a:t>
            </a:r>
            <a:endParaRPr lang="en-US" sz="1400" dirty="0"/>
          </a:p>
        </p:txBody>
      </p:sp>
      <p:sp>
        <p:nvSpPr>
          <p:cNvPr id="19" name="Text 15"/>
          <p:cNvSpPr/>
          <p:nvPr/>
        </p:nvSpPr>
        <p:spPr>
          <a:xfrm>
            <a:off x="812800" y="6238280"/>
            <a:ext cx="65405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FA0B8"/>
                </a:solidFill>
                <a:latin typeface="DM Sans" pitchFamily="34" charset="0"/>
                <a:ea typeface="DM Sans" pitchFamily="34" charset="-122"/>
                <a:cs typeface="DM Sans" pitchFamily="34" charset="-120"/>
              </a:rPr>
              <a:t>Freelancer Project Management · MERN Stack</a:t>
            </a:r>
            <a:endParaRPr lang="en-US" sz="1200" dirty="0"/>
          </a:p>
        </p:txBody>
      </p:sp>
      <p:sp>
        <p:nvSpPr>
          <p:cNvPr id="20" name="Text 16"/>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8FA0B8"/>
                </a:solidFill>
                <a:latin typeface="DM Sans" pitchFamily="34" charset="0"/>
                <a:ea typeface="DM Sans" pitchFamily="34" charset="-122"/>
                <a:cs typeface="DM Sans" pitchFamily="34" charset="-120"/>
              </a:rPr>
              <a:t>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2E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kern="0" spc="150" dirty="0">
                <a:solidFill>
                  <a:srgbClr val="0F766E"/>
                </a:solidFill>
                <a:latin typeface="DM Sans" pitchFamily="34" charset="0"/>
                <a:ea typeface="DM Sans" pitchFamily="34" charset="-122"/>
                <a:cs typeface="DM Sans" pitchFamily="34" charset="-120"/>
              </a:rPr>
              <a:t>DATABASE DESIGN</a:t>
            </a:r>
            <a:endParaRPr lang="en-US" sz="1300" dirty="0"/>
          </a:p>
        </p:txBody>
      </p:sp>
      <p:sp>
        <p:nvSpPr>
          <p:cNvPr id="3" name="Text 1"/>
          <p:cNvSpPr>
            <a:spLocks noGrp="1"/>
          </p:cNvSpPr>
          <p:nvPr>
            <p:ph type="title"/>
          </p:nvPr>
        </p:nvSpPr>
        <p:spPr>
          <a:xfrm>
            <a:off x="812800" y="114548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0F1B2D"/>
                </a:solidFill>
                <a:latin typeface="DM Sans" pitchFamily="34" charset="0"/>
                <a:ea typeface="DM Sans" pitchFamily="34" charset="-122"/>
                <a:cs typeface="DM Sans" pitchFamily="34" charset="-120"/>
              </a:rPr>
              <a:t>Five MongoDB collections</a:t>
            </a:r>
            <a:endParaRPr lang="en-US" sz="3200" dirty="0"/>
          </a:p>
        </p:txBody>
      </p:sp>
      <p:sp>
        <p:nvSpPr>
          <p:cNvPr id="4" name="Shape 2"/>
          <p:cNvSpPr/>
          <p:nvPr/>
        </p:nvSpPr>
        <p:spPr>
          <a:xfrm>
            <a:off x="815975" y="1900436"/>
            <a:ext cx="3380284" cy="1311672"/>
          </a:xfrm>
          <a:prstGeom prst="roundRect">
            <a:avLst>
              <a:gd name="adj" fmla="val 9440"/>
            </a:avLst>
          </a:prstGeom>
          <a:solidFill>
            <a:srgbClr val="FBFAF7"/>
          </a:solidFill>
          <a:ln w="6350">
            <a:solidFill>
              <a:srgbClr val="DDD9CE"/>
            </a:solidFill>
            <a:prstDash val="solid"/>
          </a:ln>
        </p:spPr>
      </p:sp>
      <p:sp>
        <p:nvSpPr>
          <p:cNvPr id="5" name="Text 3"/>
          <p:cNvSpPr/>
          <p:nvPr/>
        </p:nvSpPr>
        <p:spPr>
          <a:xfrm>
            <a:off x="1047750" y="2132211"/>
            <a:ext cx="3004236"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F1B2D"/>
                </a:solidFill>
                <a:latin typeface="DM Sans" pitchFamily="34" charset="0"/>
                <a:ea typeface="DM Sans" pitchFamily="34" charset="-122"/>
                <a:cs typeface="DM Sans" pitchFamily="34" charset="-120"/>
              </a:rPr>
              <a:t>User</a:t>
            </a:r>
            <a:endParaRPr lang="en-US" sz="1800" dirty="0"/>
          </a:p>
        </p:txBody>
      </p:sp>
      <p:sp>
        <p:nvSpPr>
          <p:cNvPr id="6" name="Text 4"/>
          <p:cNvSpPr/>
          <p:nvPr/>
        </p:nvSpPr>
        <p:spPr>
          <a:xfrm>
            <a:off x="1047750" y="2482652"/>
            <a:ext cx="3004236"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F4A5A"/>
                </a:solidFill>
                <a:latin typeface="DM Sans" pitchFamily="34" charset="0"/>
                <a:ea typeface="DM Sans" pitchFamily="34" charset="-122"/>
                <a:cs typeface="DM Sans" pitchFamily="34" charset="-120"/>
              </a:rPr>
              <a:t>name, email, password hash, role</a:t>
            </a:r>
            <a:endParaRPr lang="en-US" sz="1400" dirty="0"/>
          </a:p>
        </p:txBody>
      </p:sp>
      <p:sp>
        <p:nvSpPr>
          <p:cNvPr id="7" name="Shape 5"/>
          <p:cNvSpPr/>
          <p:nvPr/>
        </p:nvSpPr>
        <p:spPr>
          <a:xfrm>
            <a:off x="4405809" y="1900436"/>
            <a:ext cx="3380284" cy="1311672"/>
          </a:xfrm>
          <a:prstGeom prst="roundRect">
            <a:avLst>
              <a:gd name="adj" fmla="val 9440"/>
            </a:avLst>
          </a:prstGeom>
          <a:solidFill>
            <a:srgbClr val="FBFAF7"/>
          </a:solidFill>
          <a:ln w="6350">
            <a:solidFill>
              <a:srgbClr val="DDD9CE"/>
            </a:solidFill>
            <a:prstDash val="solid"/>
          </a:ln>
        </p:spPr>
      </p:sp>
      <p:sp>
        <p:nvSpPr>
          <p:cNvPr id="8" name="Text 6"/>
          <p:cNvSpPr/>
          <p:nvPr/>
        </p:nvSpPr>
        <p:spPr>
          <a:xfrm>
            <a:off x="4637584" y="2132211"/>
            <a:ext cx="3004236"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F1B2D"/>
                </a:solidFill>
                <a:latin typeface="DM Sans" pitchFamily="34" charset="0"/>
                <a:ea typeface="DM Sans" pitchFamily="34" charset="-122"/>
                <a:cs typeface="DM Sans" pitchFamily="34" charset="-120"/>
              </a:rPr>
              <a:t>Client</a:t>
            </a:r>
            <a:endParaRPr lang="en-US" sz="1800" dirty="0"/>
          </a:p>
        </p:txBody>
      </p:sp>
      <p:sp>
        <p:nvSpPr>
          <p:cNvPr id="9" name="Text 7"/>
          <p:cNvSpPr/>
          <p:nvPr/>
        </p:nvSpPr>
        <p:spPr>
          <a:xfrm>
            <a:off x="4637584" y="2482652"/>
            <a:ext cx="3004236"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F4A5A"/>
                </a:solidFill>
                <a:latin typeface="DM Sans" pitchFamily="34" charset="0"/>
                <a:ea typeface="DM Sans" pitchFamily="34" charset="-122"/>
                <a:cs typeface="DM Sans" pitchFamily="34" charset="-120"/>
              </a:rPr>
              <a:t>name, email, company, phone, owner</a:t>
            </a:r>
            <a:endParaRPr lang="en-US" sz="1400" dirty="0"/>
          </a:p>
        </p:txBody>
      </p:sp>
      <p:sp>
        <p:nvSpPr>
          <p:cNvPr id="10" name="Shape 8"/>
          <p:cNvSpPr/>
          <p:nvPr/>
        </p:nvSpPr>
        <p:spPr>
          <a:xfrm>
            <a:off x="7995642" y="1900436"/>
            <a:ext cx="3380284" cy="1311672"/>
          </a:xfrm>
          <a:prstGeom prst="roundRect">
            <a:avLst>
              <a:gd name="adj" fmla="val 9440"/>
            </a:avLst>
          </a:prstGeom>
          <a:solidFill>
            <a:srgbClr val="FBFAF7"/>
          </a:solidFill>
          <a:ln w="6350">
            <a:solidFill>
              <a:srgbClr val="DDD9CE"/>
            </a:solidFill>
            <a:prstDash val="solid"/>
          </a:ln>
        </p:spPr>
      </p:sp>
      <p:sp>
        <p:nvSpPr>
          <p:cNvPr id="11" name="Text 9"/>
          <p:cNvSpPr/>
          <p:nvPr/>
        </p:nvSpPr>
        <p:spPr>
          <a:xfrm>
            <a:off x="8227417" y="2132211"/>
            <a:ext cx="3004236"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F1B2D"/>
                </a:solidFill>
                <a:latin typeface="DM Sans" pitchFamily="34" charset="0"/>
                <a:ea typeface="DM Sans" pitchFamily="34" charset="-122"/>
                <a:cs typeface="DM Sans" pitchFamily="34" charset="-120"/>
              </a:rPr>
              <a:t>Project</a:t>
            </a:r>
            <a:endParaRPr lang="en-US" sz="1800" dirty="0"/>
          </a:p>
        </p:txBody>
      </p:sp>
      <p:sp>
        <p:nvSpPr>
          <p:cNvPr id="12" name="Text 10"/>
          <p:cNvSpPr/>
          <p:nvPr/>
        </p:nvSpPr>
        <p:spPr>
          <a:xfrm>
            <a:off x="8227417" y="2482652"/>
            <a:ext cx="3004236"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F4A5A"/>
                </a:solidFill>
                <a:latin typeface="DM Sans" pitchFamily="34" charset="0"/>
                <a:ea typeface="DM Sans" pitchFamily="34" charset="-122"/>
                <a:cs typeface="DM Sans" pitchFamily="34" charset="-120"/>
              </a:rPr>
              <a:t>title, client, status, budget, deadline</a:t>
            </a:r>
            <a:endParaRPr lang="en-US" sz="1400" dirty="0"/>
          </a:p>
        </p:txBody>
      </p:sp>
      <p:sp>
        <p:nvSpPr>
          <p:cNvPr id="13" name="Shape 11"/>
          <p:cNvSpPr/>
          <p:nvPr/>
        </p:nvSpPr>
        <p:spPr>
          <a:xfrm>
            <a:off x="815975" y="3421658"/>
            <a:ext cx="3380284" cy="1547813"/>
          </a:xfrm>
          <a:prstGeom prst="roundRect">
            <a:avLst>
              <a:gd name="adj" fmla="val 8000"/>
            </a:avLst>
          </a:prstGeom>
          <a:solidFill>
            <a:srgbClr val="FBFAF7"/>
          </a:solidFill>
          <a:ln w="6350">
            <a:solidFill>
              <a:srgbClr val="DDD9CE"/>
            </a:solidFill>
            <a:prstDash val="solid"/>
          </a:ln>
        </p:spPr>
      </p:sp>
      <p:sp>
        <p:nvSpPr>
          <p:cNvPr id="14" name="Text 12"/>
          <p:cNvSpPr/>
          <p:nvPr/>
        </p:nvSpPr>
        <p:spPr>
          <a:xfrm>
            <a:off x="1047750" y="3653433"/>
            <a:ext cx="3004236"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F1B2D"/>
                </a:solidFill>
                <a:latin typeface="DM Sans" pitchFamily="34" charset="0"/>
                <a:ea typeface="DM Sans" pitchFamily="34" charset="-122"/>
                <a:cs typeface="DM Sans" pitchFamily="34" charset="-120"/>
              </a:rPr>
              <a:t>Task</a:t>
            </a:r>
            <a:endParaRPr lang="en-US" sz="1800" dirty="0"/>
          </a:p>
        </p:txBody>
      </p:sp>
      <p:sp>
        <p:nvSpPr>
          <p:cNvPr id="15" name="Text 13"/>
          <p:cNvSpPr/>
          <p:nvPr/>
        </p:nvSpPr>
        <p:spPr>
          <a:xfrm>
            <a:off x="1047750" y="4003873"/>
            <a:ext cx="3004236"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F4A5A"/>
                </a:solidFill>
                <a:latin typeface="DM Sans" pitchFamily="34" charset="0"/>
                <a:ea typeface="DM Sans" pitchFamily="34" charset="-122"/>
                <a:cs typeface="DM Sans" pitchFamily="34" charset="-120"/>
              </a:rPr>
              <a:t>title, project, status, due date</a:t>
            </a:r>
            <a:endParaRPr lang="en-US" sz="1400" dirty="0"/>
          </a:p>
        </p:txBody>
      </p:sp>
      <p:sp>
        <p:nvSpPr>
          <p:cNvPr id="16" name="Shape 14"/>
          <p:cNvSpPr/>
          <p:nvPr/>
        </p:nvSpPr>
        <p:spPr>
          <a:xfrm>
            <a:off x="4405809" y="3421658"/>
            <a:ext cx="3380284" cy="1547813"/>
          </a:xfrm>
          <a:prstGeom prst="roundRect">
            <a:avLst>
              <a:gd name="adj" fmla="val 8000"/>
            </a:avLst>
          </a:prstGeom>
          <a:solidFill>
            <a:srgbClr val="FBFAF7"/>
          </a:solidFill>
          <a:ln w="6350">
            <a:solidFill>
              <a:srgbClr val="DDD9CE"/>
            </a:solidFill>
            <a:prstDash val="solid"/>
          </a:ln>
        </p:spPr>
      </p:sp>
      <p:sp>
        <p:nvSpPr>
          <p:cNvPr id="17" name="Text 15"/>
          <p:cNvSpPr/>
          <p:nvPr/>
        </p:nvSpPr>
        <p:spPr>
          <a:xfrm>
            <a:off x="4637584" y="3653433"/>
            <a:ext cx="3004236"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F1B2D"/>
                </a:solidFill>
                <a:latin typeface="DM Sans" pitchFamily="34" charset="0"/>
                <a:ea typeface="DM Sans" pitchFamily="34" charset="-122"/>
                <a:cs typeface="DM Sans" pitchFamily="34" charset="-120"/>
              </a:rPr>
              <a:t>Payment</a:t>
            </a:r>
            <a:endParaRPr lang="en-US" sz="1800" dirty="0"/>
          </a:p>
        </p:txBody>
      </p:sp>
      <p:sp>
        <p:nvSpPr>
          <p:cNvPr id="18" name="Text 16"/>
          <p:cNvSpPr/>
          <p:nvPr/>
        </p:nvSpPr>
        <p:spPr>
          <a:xfrm>
            <a:off x="4637584" y="4003873"/>
            <a:ext cx="3004236"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F4A5A"/>
                </a:solidFill>
                <a:latin typeface="DM Sans" pitchFamily="34" charset="0"/>
                <a:ea typeface="DM Sans" pitchFamily="34" charset="-122"/>
                <a:cs typeface="DM Sans" pitchFamily="34" charset="-120"/>
              </a:rPr>
              <a:t>project, amount, status, paid date</a:t>
            </a:r>
            <a:endParaRPr lang="en-US" sz="1400" dirty="0"/>
          </a:p>
        </p:txBody>
      </p:sp>
      <p:sp>
        <p:nvSpPr>
          <p:cNvPr id="19" name="Shape 17"/>
          <p:cNvSpPr/>
          <p:nvPr/>
        </p:nvSpPr>
        <p:spPr>
          <a:xfrm>
            <a:off x="7992467" y="3418483"/>
            <a:ext cx="3386634" cy="1554163"/>
          </a:xfrm>
          <a:prstGeom prst="roundRect">
            <a:avLst>
              <a:gd name="adj" fmla="val 8172"/>
            </a:avLst>
          </a:prstGeom>
          <a:solidFill>
            <a:srgbClr val="0F1B2D"/>
          </a:solidFill>
          <a:ln/>
        </p:spPr>
      </p:sp>
      <p:sp>
        <p:nvSpPr>
          <p:cNvPr id="20" name="Text 18"/>
          <p:cNvSpPr/>
          <p:nvPr/>
        </p:nvSpPr>
        <p:spPr>
          <a:xfrm>
            <a:off x="8221067" y="3647083"/>
            <a:ext cx="3017317"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2DD4BF"/>
                </a:solidFill>
                <a:latin typeface="DM Sans" pitchFamily="34" charset="0"/>
                <a:ea typeface="DM Sans" pitchFamily="34" charset="-122"/>
                <a:cs typeface="DM Sans" pitchFamily="34" charset="-120"/>
              </a:rPr>
              <a:t>Relationships</a:t>
            </a:r>
            <a:endParaRPr lang="en-US" sz="1800" dirty="0"/>
          </a:p>
        </p:txBody>
      </p:sp>
      <p:sp>
        <p:nvSpPr>
          <p:cNvPr id="21" name="Text 19"/>
          <p:cNvSpPr/>
          <p:nvPr/>
        </p:nvSpPr>
        <p:spPr>
          <a:xfrm>
            <a:off x="8221067" y="3997523"/>
            <a:ext cx="3017317" cy="771922"/>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EAF0F8"/>
                </a:solidFill>
                <a:latin typeface="DM Sans" pitchFamily="34" charset="0"/>
                <a:ea typeface="DM Sans" pitchFamily="34" charset="-122"/>
                <a:cs typeface="DM Sans" pitchFamily="34" charset="-120"/>
              </a:rPr>
              <a:t>A client has many projects. A project has many tasks and payments.</a:t>
            </a:r>
            <a:endParaRPr lang="en-US" sz="1400" dirty="0"/>
          </a:p>
        </p:txBody>
      </p:sp>
      <p:sp>
        <p:nvSpPr>
          <p:cNvPr id="22" name="Text 20"/>
          <p:cNvSpPr/>
          <p:nvPr/>
        </p:nvSpPr>
        <p:spPr>
          <a:xfrm>
            <a:off x="812800" y="6238280"/>
            <a:ext cx="65405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472"/>
                </a:solidFill>
                <a:latin typeface="DM Sans" pitchFamily="34" charset="0"/>
                <a:ea typeface="DM Sans" pitchFamily="34" charset="-122"/>
                <a:cs typeface="DM Sans" pitchFamily="34" charset="-120"/>
              </a:rPr>
              <a:t>Freelancer Project Management · MERN Stack</a:t>
            </a:r>
            <a:endParaRPr lang="en-US" sz="1200" dirty="0"/>
          </a:p>
        </p:txBody>
      </p:sp>
      <p:sp>
        <p:nvSpPr>
          <p:cNvPr id="23" name="Text 21"/>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472"/>
                </a:solidFill>
                <a:latin typeface="DM Sans" pitchFamily="34" charset="0"/>
                <a:ea typeface="DM Sans" pitchFamily="34" charset="-122"/>
                <a:cs typeface="DM Sans" pitchFamily="34" charset="-120"/>
              </a:rPr>
              <a:t>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2E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kern="0" spc="150" dirty="0">
                <a:solidFill>
                  <a:srgbClr val="0F766E"/>
                </a:solidFill>
                <a:latin typeface="DM Sans" pitchFamily="34" charset="0"/>
                <a:ea typeface="DM Sans" pitchFamily="34" charset="-122"/>
                <a:cs typeface="DM Sans" pitchFamily="34" charset="-120"/>
              </a:rPr>
              <a:t>CRUD WITH MONGODB</a:t>
            </a:r>
            <a:endParaRPr lang="en-US" sz="1300" dirty="0"/>
          </a:p>
        </p:txBody>
      </p:sp>
      <p:sp>
        <p:nvSpPr>
          <p:cNvPr id="3" name="Text 1"/>
          <p:cNvSpPr>
            <a:spLocks noGrp="1"/>
          </p:cNvSpPr>
          <p:nvPr>
            <p:ph type="title"/>
          </p:nvPr>
        </p:nvSpPr>
        <p:spPr>
          <a:xfrm>
            <a:off x="812800" y="114548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0F1B2D"/>
                </a:solidFill>
                <a:latin typeface="DM Sans" pitchFamily="34" charset="0"/>
                <a:ea typeface="DM Sans" pitchFamily="34" charset="-122"/>
                <a:cs typeface="DM Sans" pitchFamily="34" charset="-120"/>
              </a:rPr>
              <a:t>Clients and projects, end to end</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09961"/>
          <a:ext cx="10553700" cy="1929805"/>
        </p:xfrm>
        <a:graphic>
          <a:graphicData uri="http://schemas.openxmlformats.org/drawingml/2006/table">
            <a:tbl>
              <a:tblPr/>
              <a:tblGrid>
                <a:gridCol w="1688592"/>
                <a:gridCol w="3588258"/>
                <a:gridCol w="1477518"/>
                <a:gridCol w="3799332"/>
              </a:tblGrid>
              <a:tr h="385961">
                <a:tc>
                  <a:txBody>
                    <a:bodyPr/>
                    <a:lstStyle/>
                    <a:p>
                      <a:pPr marL="0" indent="0">
                        <a:lnSpc>
                          <a:spcPts val="1960"/>
                        </a:lnSpc>
                        <a:buNone/>
                      </a:pPr>
                      <a:r>
                        <a:rPr lang="en-US" sz="1400" b="1" dirty="0">
                          <a:solidFill>
                            <a:srgbClr val="F4F7FB"/>
                          </a:solidFill>
                          <a:latin typeface="DM Sans" pitchFamily="34" charset="0"/>
                          <a:ea typeface="DM Sans" pitchFamily="34" charset="-122"/>
                          <a:cs typeface="DM Sans" pitchFamily="34" charset="-120"/>
                        </a:rPr>
                        <a:t>Action</a:t>
                      </a:r>
                      <a:endParaRPr lang="en-US" sz="1400" dirty="0">
                        <a:latin typeface="DM Sans" charset="0"/>
                        <a:ea typeface="DM Sans" charset="0"/>
                        <a:cs typeface="DM Sans" charset="0"/>
                      </a:endParaRPr>
                    </a:p>
                  </a:txBody>
                  <a:tcPr marL="62230" marR="62230" marT="62230" marB="62230">
                    <a:lnL w="12700" cap="flat" cmpd="sng" algn="ctr">
                      <a:solidFill>
                        <a:srgbClr val="C3C1BC"/>
                      </a:solidFill>
                      <a:prstDash val="solid"/>
                      <a:round/>
                      <a:headEnd type="none" w="med" len="med"/>
                      <a:tailEnd type="none" w="med" len="med"/>
                    </a:lnL>
                    <a:lnR w="12700" cap="flat" cmpd="sng" algn="ctr">
                      <a:solidFill>
                        <a:srgbClr val="101927"/>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101927"/>
                      </a:solidFill>
                      <a:prstDash val="solid"/>
                      <a:round/>
                      <a:headEnd type="none" w="med" len="med"/>
                      <a:tailEnd type="none" w="med" len="med"/>
                    </a:lnB>
                    <a:solidFill>
                      <a:srgbClr val="0F1B2D"/>
                    </a:solidFill>
                  </a:tcPr>
                </a:tc>
                <a:tc>
                  <a:txBody>
                    <a:bodyPr/>
                    <a:lstStyle/>
                    <a:p>
                      <a:pPr marL="0" indent="0">
                        <a:lnSpc>
                          <a:spcPts val="1960"/>
                        </a:lnSpc>
                        <a:buNone/>
                      </a:pPr>
                      <a:r>
                        <a:rPr lang="en-US" sz="1400" b="1" dirty="0">
                          <a:solidFill>
                            <a:srgbClr val="F4F7FB"/>
                          </a:solidFill>
                          <a:latin typeface="DM Sans" pitchFamily="34" charset="0"/>
                          <a:ea typeface="DM Sans" pitchFamily="34" charset="-122"/>
                          <a:cs typeface="DM Sans" pitchFamily="34" charset="-120"/>
                        </a:rPr>
                        <a:t>In the interface</a:t>
                      </a:r>
                      <a:endParaRPr lang="en-US" sz="1400" dirty="0">
                        <a:latin typeface="DM Sans" charset="0"/>
                        <a:ea typeface="DM Sans" charset="0"/>
                        <a:cs typeface="DM Sans" charset="0"/>
                      </a:endParaRPr>
                    </a:p>
                  </a:txBody>
                  <a:tcPr marL="62230" marR="62230" marT="62230" marB="62230">
                    <a:lnL w="12700" cap="flat" cmpd="sng" algn="ctr">
                      <a:solidFill>
                        <a:srgbClr val="101927"/>
                      </a:solidFill>
                      <a:prstDash val="solid"/>
                      <a:round/>
                      <a:headEnd type="none" w="med" len="med"/>
                      <a:tailEnd type="none" w="med" len="med"/>
                    </a:lnL>
                    <a:lnR w="12700" cap="flat" cmpd="sng" algn="ctr">
                      <a:solidFill>
                        <a:srgbClr val="101927"/>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101927"/>
                      </a:solidFill>
                      <a:prstDash val="solid"/>
                      <a:round/>
                      <a:headEnd type="none" w="med" len="med"/>
                      <a:tailEnd type="none" w="med" len="med"/>
                    </a:lnB>
                    <a:solidFill>
                      <a:srgbClr val="0F1B2D"/>
                    </a:solidFill>
                  </a:tcPr>
                </a:tc>
                <a:tc>
                  <a:txBody>
                    <a:bodyPr/>
                    <a:lstStyle/>
                    <a:p>
                      <a:pPr marL="0" indent="0">
                        <a:lnSpc>
                          <a:spcPts val="1960"/>
                        </a:lnSpc>
                        <a:buNone/>
                      </a:pPr>
                      <a:r>
                        <a:rPr lang="en-US" sz="1400" b="1" dirty="0">
                          <a:solidFill>
                            <a:srgbClr val="F4F7FB"/>
                          </a:solidFill>
                          <a:latin typeface="DM Sans" pitchFamily="34" charset="0"/>
                          <a:ea typeface="DM Sans" pitchFamily="34" charset="-122"/>
                          <a:cs typeface="DM Sans" pitchFamily="34" charset="-120"/>
                        </a:rPr>
                        <a:t>HTTP</a:t>
                      </a:r>
                      <a:endParaRPr lang="en-US" sz="1400" dirty="0">
                        <a:latin typeface="DM Sans" charset="0"/>
                        <a:ea typeface="DM Sans" charset="0"/>
                        <a:cs typeface="DM Sans" charset="0"/>
                      </a:endParaRPr>
                    </a:p>
                  </a:txBody>
                  <a:tcPr marL="62230" marR="62230" marT="62230" marB="62230">
                    <a:lnL w="12700" cap="flat" cmpd="sng" algn="ctr">
                      <a:solidFill>
                        <a:srgbClr val="101927"/>
                      </a:solidFill>
                      <a:prstDash val="solid"/>
                      <a:round/>
                      <a:headEnd type="none" w="med" len="med"/>
                      <a:tailEnd type="none" w="med" len="med"/>
                    </a:lnL>
                    <a:lnR w="12700" cap="flat" cmpd="sng" algn="ctr">
                      <a:solidFill>
                        <a:srgbClr val="101927"/>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101927"/>
                      </a:solidFill>
                      <a:prstDash val="solid"/>
                      <a:round/>
                      <a:headEnd type="none" w="med" len="med"/>
                      <a:tailEnd type="none" w="med" len="med"/>
                    </a:lnB>
                    <a:solidFill>
                      <a:srgbClr val="0F1B2D"/>
                    </a:solidFill>
                  </a:tcPr>
                </a:tc>
                <a:tc>
                  <a:txBody>
                    <a:bodyPr/>
                    <a:lstStyle/>
                    <a:p>
                      <a:pPr marL="0" indent="0">
                        <a:lnSpc>
                          <a:spcPts val="1960"/>
                        </a:lnSpc>
                        <a:buNone/>
                      </a:pPr>
                      <a:r>
                        <a:rPr lang="en-US" sz="1400" b="1" dirty="0">
                          <a:solidFill>
                            <a:srgbClr val="F4F7FB"/>
                          </a:solidFill>
                          <a:latin typeface="DM Sans" pitchFamily="34" charset="0"/>
                          <a:ea typeface="DM Sans" pitchFamily="34" charset="-122"/>
                          <a:cs typeface="DM Sans" pitchFamily="34" charset="-120"/>
                        </a:rPr>
                        <a:t>Endpoint</a:t>
                      </a:r>
                      <a:endParaRPr lang="en-US" sz="1400" dirty="0">
                        <a:latin typeface="DM Sans" charset="0"/>
                        <a:ea typeface="DM Sans" charset="0"/>
                        <a:cs typeface="DM Sans" charset="0"/>
                      </a:endParaRPr>
                    </a:p>
                  </a:txBody>
                  <a:tcPr marL="62230" marR="62230" marT="62230" marB="62230">
                    <a:lnL w="12700" cap="flat" cmpd="sng" algn="ctr">
                      <a:solidFill>
                        <a:srgbClr val="101927"/>
                      </a:solidFill>
                      <a:prstDash val="solid"/>
                      <a:round/>
                      <a:headEnd type="none" w="med" len="med"/>
                      <a:tailEnd type="none" w="med" len="med"/>
                    </a:lnL>
                    <a:lnR w="12700" cap="flat" cmpd="sng" algn="ctr">
                      <a:solidFill>
                        <a:srgbClr val="101927"/>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101927"/>
                      </a:solidFill>
                      <a:prstDash val="solid"/>
                      <a:round/>
                      <a:headEnd type="none" w="med" len="med"/>
                      <a:tailEnd type="none" w="med" len="med"/>
                    </a:lnB>
                    <a:solidFill>
                      <a:srgbClr val="0F1B2D"/>
                    </a:solidFill>
                  </a:tcPr>
                </a:tc>
              </a:tr>
              <a:tr h="385961">
                <a:tc>
                  <a:txBody>
                    <a:bodyPr/>
                    <a:lstStyle/>
                    <a:p>
                      <a:pPr marL="0" indent="0">
                        <a:lnSpc>
                          <a:spcPts val="1960"/>
                        </a:lnSpc>
                        <a:buNone/>
                      </a:pPr>
                      <a:r>
                        <a:rPr lang="en-US" sz="1400" dirty="0">
                          <a:solidFill>
                            <a:srgbClr val="0F1B2D"/>
                          </a:solidFill>
                          <a:latin typeface="DM Sans" pitchFamily="34" charset="0"/>
                          <a:ea typeface="DM Sans" pitchFamily="34" charset="-122"/>
                          <a:cs typeface="DM Sans" pitchFamily="34" charset="-120"/>
                        </a:rPr>
                        <a:t>Create</a:t>
                      </a:r>
                      <a:endParaRPr lang="en-US" sz="1400" dirty="0">
                        <a:latin typeface="DM Sans" charset="0"/>
                        <a:ea typeface="DM Sans" charset="0"/>
                        <a:cs typeface="DM Sans" charset="0"/>
                      </a:endParaRPr>
                    </a:p>
                  </a:txBody>
                  <a:tcPr marL="62230" marR="62230" marT="62230" marB="62230">
                    <a:lnL w="12700" cap="flat" cmpd="sng" algn="ctr">
                      <a:solidFill>
                        <a:srgbClr val="C3C1BC"/>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101927"/>
                      </a:solidFill>
                      <a:prstDash val="solid"/>
                      <a:round/>
                      <a:headEnd type="none" w="med" len="med"/>
                      <a:tailEnd type="none" w="med" len="med"/>
                    </a:lnT>
                    <a:lnB w="12700" cap="flat" cmpd="sng" algn="ctr">
                      <a:solidFill>
                        <a:srgbClr val="C8C7C5"/>
                      </a:solidFill>
                      <a:prstDash val="solid"/>
                      <a:round/>
                      <a:headEnd type="none" w="med" len="med"/>
                      <a:tailEnd type="none" w="med" len="med"/>
                    </a:lnB>
                    <a:solidFill>
                      <a:srgbClr val="FBFAF7"/>
                    </a:solidFill>
                  </a:tcPr>
                </a:tc>
                <a:tc>
                  <a:txBody>
                    <a:bodyPr/>
                    <a:lstStyle/>
                    <a:p>
                      <a:pPr marL="0" indent="0">
                        <a:lnSpc>
                          <a:spcPts val="1960"/>
                        </a:lnSpc>
                        <a:buNone/>
                      </a:pPr>
                      <a:r>
                        <a:rPr lang="en-US" sz="1400" dirty="0">
                          <a:solidFill>
                            <a:srgbClr val="0F1B2D"/>
                          </a:solidFill>
                          <a:latin typeface="DM Sans" pitchFamily="34" charset="0"/>
                          <a:ea typeface="DM Sans" pitchFamily="34" charset="-122"/>
                          <a:cs typeface="DM Sans" pitchFamily="34" charset="-120"/>
                        </a:rPr>
                        <a:t>Add client or project form</a:t>
                      </a:r>
                      <a:endParaRPr lang="en-US" sz="1400" dirty="0">
                        <a:latin typeface="DM Sans" charset="0"/>
                        <a:ea typeface="DM Sans" charset="0"/>
                        <a:cs typeface="DM Sans" charset="0"/>
                      </a:endParaRPr>
                    </a:p>
                  </a:txBody>
                  <a:tcPr marL="62230" marR="62230" marT="62230" marB="62230">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101927"/>
                      </a:solidFill>
                      <a:prstDash val="solid"/>
                      <a:round/>
                      <a:headEnd type="none" w="med" len="med"/>
                      <a:tailEnd type="none" w="med" len="med"/>
                    </a:lnT>
                    <a:lnB w="12700" cap="flat" cmpd="sng" algn="ctr">
                      <a:solidFill>
                        <a:srgbClr val="C8C7C5"/>
                      </a:solidFill>
                      <a:prstDash val="solid"/>
                      <a:round/>
                      <a:headEnd type="none" w="med" len="med"/>
                      <a:tailEnd type="none" w="med" len="med"/>
                    </a:lnB>
                    <a:solidFill>
                      <a:srgbClr val="FBFAF7"/>
                    </a:solidFill>
                  </a:tcPr>
                </a:tc>
                <a:tc>
                  <a:txBody>
                    <a:bodyPr/>
                    <a:lstStyle/>
                    <a:p>
                      <a:pPr marL="0" indent="0">
                        <a:lnSpc>
                          <a:spcPts val="1960"/>
                        </a:lnSpc>
                        <a:buNone/>
                      </a:pPr>
                      <a:r>
                        <a:rPr lang="en-US" sz="1400" dirty="0">
                          <a:solidFill>
                            <a:srgbClr val="0F1B2D"/>
                          </a:solidFill>
                          <a:latin typeface="DM Sans" pitchFamily="34" charset="0"/>
                          <a:ea typeface="DM Sans" pitchFamily="34" charset="-122"/>
                          <a:cs typeface="DM Sans" pitchFamily="34" charset="-120"/>
                        </a:rPr>
                        <a:t>POST</a:t>
                      </a:r>
                      <a:endParaRPr lang="en-US" sz="1400" dirty="0">
                        <a:latin typeface="DM Sans" charset="0"/>
                        <a:ea typeface="DM Sans" charset="0"/>
                        <a:cs typeface="DM Sans" charset="0"/>
                      </a:endParaRPr>
                    </a:p>
                  </a:txBody>
                  <a:tcPr marL="62230" marR="62230" marT="62230" marB="62230">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101927"/>
                      </a:solidFill>
                      <a:prstDash val="solid"/>
                      <a:round/>
                      <a:headEnd type="none" w="med" len="med"/>
                      <a:tailEnd type="none" w="med" len="med"/>
                    </a:lnT>
                    <a:lnB w="12700" cap="flat" cmpd="sng" algn="ctr">
                      <a:solidFill>
                        <a:srgbClr val="C8C7C5"/>
                      </a:solidFill>
                      <a:prstDash val="solid"/>
                      <a:round/>
                      <a:headEnd type="none" w="med" len="med"/>
                      <a:tailEnd type="none" w="med" len="med"/>
                    </a:lnB>
                    <a:solidFill>
                      <a:srgbClr val="FBFAF7"/>
                    </a:solidFill>
                  </a:tcPr>
                </a:tc>
                <a:tc>
                  <a:txBody>
                    <a:bodyPr/>
                    <a:lstStyle/>
                    <a:p>
                      <a:pPr marL="0" indent="0">
                        <a:lnSpc>
                          <a:spcPts val="1960"/>
                        </a:lnSpc>
                        <a:buNone/>
                      </a:pPr>
                      <a:r>
                        <a:rPr lang="en-US" sz="1400" dirty="0">
                          <a:solidFill>
                            <a:srgbClr val="0F1B2D"/>
                          </a:solidFill>
                          <a:latin typeface="DM Sans" pitchFamily="34" charset="0"/>
                          <a:ea typeface="DM Sans" pitchFamily="34" charset="-122"/>
                          <a:cs typeface="DM Sans" pitchFamily="34" charset="-120"/>
                        </a:rPr>
                        <a:t>/api/clients, /api/projects</a:t>
                      </a:r>
                      <a:endParaRPr lang="en-US" sz="1400" dirty="0">
                        <a:latin typeface="DM Sans" charset="0"/>
                        <a:ea typeface="DM Sans" charset="0"/>
                        <a:cs typeface="DM Sans" charset="0"/>
                      </a:endParaRPr>
                    </a:p>
                  </a:txBody>
                  <a:tcPr marL="62230" marR="62230" marT="62230" marB="62230">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101927"/>
                      </a:solidFill>
                      <a:prstDash val="solid"/>
                      <a:round/>
                      <a:headEnd type="none" w="med" len="med"/>
                      <a:tailEnd type="none" w="med" len="med"/>
                    </a:lnT>
                    <a:lnB w="12700" cap="flat" cmpd="sng" algn="ctr">
                      <a:solidFill>
                        <a:srgbClr val="C8C7C5"/>
                      </a:solidFill>
                      <a:prstDash val="solid"/>
                      <a:round/>
                      <a:headEnd type="none" w="med" len="med"/>
                      <a:tailEnd type="none" w="med" len="med"/>
                    </a:lnB>
                    <a:solidFill>
                      <a:srgbClr val="FBFAF7"/>
                    </a:solidFill>
                  </a:tcPr>
                </a:tc>
              </a:tr>
              <a:tr h="385961">
                <a:tc>
                  <a:txBody>
                    <a:bodyPr/>
                    <a:lstStyle/>
                    <a:p>
                      <a:pPr marL="0" indent="0">
                        <a:lnSpc>
                          <a:spcPts val="1960"/>
                        </a:lnSpc>
                        <a:buNone/>
                      </a:pPr>
                      <a:r>
                        <a:rPr lang="en-US" sz="1400" dirty="0">
                          <a:solidFill>
                            <a:srgbClr val="0F1B2D"/>
                          </a:solidFill>
                          <a:latin typeface="DM Sans" pitchFamily="34" charset="0"/>
                          <a:ea typeface="DM Sans" pitchFamily="34" charset="-122"/>
                          <a:cs typeface="DM Sans" pitchFamily="34" charset="-120"/>
                        </a:rPr>
                        <a:t>View</a:t>
                      </a:r>
                      <a:endParaRPr lang="en-US" sz="1400" dirty="0">
                        <a:latin typeface="DM Sans" charset="0"/>
                        <a:ea typeface="DM Sans" charset="0"/>
                        <a:cs typeface="DM Sans" charset="0"/>
                      </a:endParaRPr>
                    </a:p>
                  </a:txBody>
                  <a:tcPr marL="62230" marR="62230" marT="62230" marB="62230">
                    <a:lnL w="12700" cap="flat" cmpd="sng" algn="ctr">
                      <a:solidFill>
                        <a:srgbClr val="C3C1BC"/>
                      </a:solidFill>
                      <a:prstDash val="solid"/>
                      <a:round/>
                      <a:headEnd type="none" w="med" len="med"/>
                      <a:tailEnd type="none" w="med" len="med"/>
                    </a:lnL>
                    <a:lnR w="12700" cap="flat" cmpd="sng" algn="ctr">
                      <a:solidFill>
                        <a:srgbClr val="BCBAB3"/>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BCBAB3"/>
                      </a:solidFill>
                      <a:prstDash val="solid"/>
                      <a:round/>
                      <a:headEnd type="none" w="med" len="med"/>
                      <a:tailEnd type="none" w="med" len="med"/>
                    </a:lnB>
                    <a:solidFill>
                      <a:srgbClr val="ECE9E0"/>
                    </a:solidFill>
                  </a:tcPr>
                </a:tc>
                <a:tc>
                  <a:txBody>
                    <a:bodyPr/>
                    <a:lstStyle/>
                    <a:p>
                      <a:pPr marL="0" indent="0">
                        <a:lnSpc>
                          <a:spcPts val="1960"/>
                        </a:lnSpc>
                        <a:buNone/>
                      </a:pPr>
                      <a:r>
                        <a:rPr lang="en-US" sz="1400" dirty="0">
                          <a:solidFill>
                            <a:srgbClr val="0F1B2D"/>
                          </a:solidFill>
                          <a:latin typeface="DM Sans" pitchFamily="34" charset="0"/>
                          <a:ea typeface="DM Sans" pitchFamily="34" charset="-122"/>
                          <a:cs typeface="DM Sans" pitchFamily="34" charset="-120"/>
                        </a:rPr>
                        <a:t>Lists and detail pages</a:t>
                      </a:r>
                      <a:endParaRPr lang="en-US" sz="1400" dirty="0">
                        <a:latin typeface="DM Sans" charset="0"/>
                        <a:ea typeface="DM Sans" charset="0"/>
                        <a:cs typeface="DM Sans" charset="0"/>
                      </a:endParaRPr>
                    </a:p>
                  </a:txBody>
                  <a:tcPr marL="62230" marR="62230" marT="62230" marB="62230">
                    <a:lnL w="12700" cap="flat" cmpd="sng" algn="ctr">
                      <a:solidFill>
                        <a:srgbClr val="BCBAB3"/>
                      </a:solidFill>
                      <a:prstDash val="solid"/>
                      <a:round/>
                      <a:headEnd type="none" w="med" len="med"/>
                      <a:tailEnd type="none" w="med" len="med"/>
                    </a:lnL>
                    <a:lnR w="12700" cap="flat" cmpd="sng" algn="ctr">
                      <a:solidFill>
                        <a:srgbClr val="BCBAB3"/>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BCBAB3"/>
                      </a:solidFill>
                      <a:prstDash val="solid"/>
                      <a:round/>
                      <a:headEnd type="none" w="med" len="med"/>
                      <a:tailEnd type="none" w="med" len="med"/>
                    </a:lnB>
                    <a:solidFill>
                      <a:srgbClr val="ECE9E0"/>
                    </a:solidFill>
                  </a:tcPr>
                </a:tc>
                <a:tc>
                  <a:txBody>
                    <a:bodyPr/>
                    <a:lstStyle/>
                    <a:p>
                      <a:pPr marL="0" indent="0">
                        <a:lnSpc>
                          <a:spcPts val="1960"/>
                        </a:lnSpc>
                        <a:buNone/>
                      </a:pPr>
                      <a:r>
                        <a:rPr lang="en-US" sz="1400" dirty="0">
                          <a:solidFill>
                            <a:srgbClr val="0F1B2D"/>
                          </a:solidFill>
                          <a:latin typeface="DM Sans" pitchFamily="34" charset="0"/>
                          <a:ea typeface="DM Sans" pitchFamily="34" charset="-122"/>
                          <a:cs typeface="DM Sans" pitchFamily="34" charset="-120"/>
                        </a:rPr>
                        <a:t>GET</a:t>
                      </a:r>
                      <a:endParaRPr lang="en-US" sz="1400" dirty="0">
                        <a:latin typeface="DM Sans" charset="0"/>
                        <a:ea typeface="DM Sans" charset="0"/>
                        <a:cs typeface="DM Sans" charset="0"/>
                      </a:endParaRPr>
                    </a:p>
                  </a:txBody>
                  <a:tcPr marL="62230" marR="62230" marT="62230" marB="62230">
                    <a:lnL w="12700" cap="flat" cmpd="sng" algn="ctr">
                      <a:solidFill>
                        <a:srgbClr val="BCBAB3"/>
                      </a:solidFill>
                      <a:prstDash val="solid"/>
                      <a:round/>
                      <a:headEnd type="none" w="med" len="med"/>
                      <a:tailEnd type="none" w="med" len="med"/>
                    </a:lnL>
                    <a:lnR w="12700" cap="flat" cmpd="sng" algn="ctr">
                      <a:solidFill>
                        <a:srgbClr val="BCBAB3"/>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BCBAB3"/>
                      </a:solidFill>
                      <a:prstDash val="solid"/>
                      <a:round/>
                      <a:headEnd type="none" w="med" len="med"/>
                      <a:tailEnd type="none" w="med" len="med"/>
                    </a:lnB>
                    <a:solidFill>
                      <a:srgbClr val="ECE9E0"/>
                    </a:solidFill>
                  </a:tcPr>
                </a:tc>
                <a:tc>
                  <a:txBody>
                    <a:bodyPr/>
                    <a:lstStyle/>
                    <a:p>
                      <a:pPr marL="0" indent="0">
                        <a:lnSpc>
                          <a:spcPts val="1960"/>
                        </a:lnSpc>
                        <a:buNone/>
                      </a:pPr>
                      <a:r>
                        <a:rPr lang="en-US" sz="1400" dirty="0">
                          <a:solidFill>
                            <a:srgbClr val="0F1B2D"/>
                          </a:solidFill>
                          <a:latin typeface="DM Sans" pitchFamily="34" charset="0"/>
                          <a:ea typeface="DM Sans" pitchFamily="34" charset="-122"/>
                          <a:cs typeface="DM Sans" pitchFamily="34" charset="-120"/>
                        </a:rPr>
                        <a:t>/api/clients, /api/projects/:id</a:t>
                      </a:r>
                      <a:endParaRPr lang="en-US" sz="1400" dirty="0">
                        <a:latin typeface="DM Sans" charset="0"/>
                        <a:ea typeface="DM Sans" charset="0"/>
                        <a:cs typeface="DM Sans" charset="0"/>
                      </a:endParaRPr>
                    </a:p>
                  </a:txBody>
                  <a:tcPr marL="62230" marR="62230" marT="62230" marB="62230">
                    <a:lnL w="12700" cap="flat" cmpd="sng" algn="ctr">
                      <a:solidFill>
                        <a:srgbClr val="BCBAB3"/>
                      </a:solidFill>
                      <a:prstDash val="solid"/>
                      <a:round/>
                      <a:headEnd type="none" w="med" len="med"/>
                      <a:tailEnd type="none" w="med" len="med"/>
                    </a:lnL>
                    <a:lnR w="12700" cap="flat" cmpd="sng" algn="ctr">
                      <a:solidFill>
                        <a:srgbClr val="BCBAB3"/>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BCBAB3"/>
                      </a:solidFill>
                      <a:prstDash val="solid"/>
                      <a:round/>
                      <a:headEnd type="none" w="med" len="med"/>
                      <a:tailEnd type="none" w="med" len="med"/>
                    </a:lnB>
                    <a:solidFill>
                      <a:srgbClr val="ECE9E0"/>
                    </a:solidFill>
                  </a:tcPr>
                </a:tc>
              </a:tr>
              <a:tr h="385961">
                <a:tc>
                  <a:txBody>
                    <a:bodyPr/>
                    <a:lstStyle/>
                    <a:p>
                      <a:pPr marL="0" indent="0">
                        <a:lnSpc>
                          <a:spcPts val="1960"/>
                        </a:lnSpc>
                        <a:buNone/>
                      </a:pPr>
                      <a:r>
                        <a:rPr lang="en-US" sz="1400" dirty="0">
                          <a:solidFill>
                            <a:srgbClr val="0F1B2D"/>
                          </a:solidFill>
                          <a:latin typeface="DM Sans" pitchFamily="34" charset="0"/>
                          <a:ea typeface="DM Sans" pitchFamily="34" charset="-122"/>
                          <a:cs typeface="DM Sans" pitchFamily="34" charset="-120"/>
                        </a:rPr>
                        <a:t>Edit</a:t>
                      </a:r>
                      <a:endParaRPr lang="en-US" sz="1400" dirty="0">
                        <a:latin typeface="DM Sans" charset="0"/>
                        <a:ea typeface="DM Sans" charset="0"/>
                        <a:cs typeface="DM Sans" charset="0"/>
                      </a:endParaRPr>
                    </a:p>
                  </a:txBody>
                  <a:tcPr marL="62230" marR="62230" marT="62230" marB="62230">
                    <a:lnL w="12700" cap="flat" cmpd="sng" algn="ctr">
                      <a:solidFill>
                        <a:srgbClr val="C3C1BC"/>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BCBAB3"/>
                      </a:solidFill>
                      <a:prstDash val="solid"/>
                      <a:round/>
                      <a:headEnd type="none" w="med" len="med"/>
                      <a:tailEnd type="none" w="med" len="med"/>
                    </a:lnT>
                    <a:lnB w="12700" cap="flat" cmpd="sng" algn="ctr">
                      <a:solidFill>
                        <a:srgbClr val="C8C7C5"/>
                      </a:solidFill>
                      <a:prstDash val="solid"/>
                      <a:round/>
                      <a:headEnd type="none" w="med" len="med"/>
                      <a:tailEnd type="none" w="med" len="med"/>
                    </a:lnB>
                    <a:solidFill>
                      <a:srgbClr val="FBFAF7"/>
                    </a:solidFill>
                  </a:tcPr>
                </a:tc>
                <a:tc>
                  <a:txBody>
                    <a:bodyPr/>
                    <a:lstStyle/>
                    <a:p>
                      <a:pPr marL="0" indent="0">
                        <a:lnSpc>
                          <a:spcPts val="1960"/>
                        </a:lnSpc>
                        <a:buNone/>
                      </a:pPr>
                      <a:r>
                        <a:rPr lang="en-US" sz="1400" dirty="0">
                          <a:solidFill>
                            <a:srgbClr val="0F1B2D"/>
                          </a:solidFill>
                          <a:latin typeface="DM Sans" pitchFamily="34" charset="0"/>
                          <a:ea typeface="DM Sans" pitchFamily="34" charset="-122"/>
                          <a:cs typeface="DM Sans" pitchFamily="34" charset="-120"/>
                        </a:rPr>
                        <a:t>Edit form, status change</a:t>
                      </a:r>
                      <a:endParaRPr lang="en-US" sz="1400" dirty="0">
                        <a:latin typeface="DM Sans" charset="0"/>
                        <a:ea typeface="DM Sans" charset="0"/>
                        <a:cs typeface="DM Sans" charset="0"/>
                      </a:endParaRPr>
                    </a:p>
                  </a:txBody>
                  <a:tcPr marL="62230" marR="62230" marT="62230" marB="62230">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BCBAB3"/>
                      </a:solidFill>
                      <a:prstDash val="solid"/>
                      <a:round/>
                      <a:headEnd type="none" w="med" len="med"/>
                      <a:tailEnd type="none" w="med" len="med"/>
                    </a:lnT>
                    <a:lnB w="12700" cap="flat" cmpd="sng" algn="ctr">
                      <a:solidFill>
                        <a:srgbClr val="C8C7C5"/>
                      </a:solidFill>
                      <a:prstDash val="solid"/>
                      <a:round/>
                      <a:headEnd type="none" w="med" len="med"/>
                      <a:tailEnd type="none" w="med" len="med"/>
                    </a:lnB>
                    <a:solidFill>
                      <a:srgbClr val="FBFAF7"/>
                    </a:solidFill>
                  </a:tcPr>
                </a:tc>
                <a:tc>
                  <a:txBody>
                    <a:bodyPr/>
                    <a:lstStyle/>
                    <a:p>
                      <a:pPr marL="0" indent="0">
                        <a:lnSpc>
                          <a:spcPts val="1960"/>
                        </a:lnSpc>
                        <a:buNone/>
                      </a:pPr>
                      <a:r>
                        <a:rPr lang="en-US" sz="1400" dirty="0">
                          <a:solidFill>
                            <a:srgbClr val="0F1B2D"/>
                          </a:solidFill>
                          <a:latin typeface="DM Sans" pitchFamily="34" charset="0"/>
                          <a:ea typeface="DM Sans" pitchFamily="34" charset="-122"/>
                          <a:cs typeface="DM Sans" pitchFamily="34" charset="-120"/>
                        </a:rPr>
                        <a:t>PUT</a:t>
                      </a:r>
                      <a:endParaRPr lang="en-US" sz="1400" dirty="0">
                        <a:latin typeface="DM Sans" charset="0"/>
                        <a:ea typeface="DM Sans" charset="0"/>
                        <a:cs typeface="DM Sans" charset="0"/>
                      </a:endParaRPr>
                    </a:p>
                  </a:txBody>
                  <a:tcPr marL="62230" marR="62230" marT="62230" marB="62230">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BCBAB3"/>
                      </a:solidFill>
                      <a:prstDash val="solid"/>
                      <a:round/>
                      <a:headEnd type="none" w="med" len="med"/>
                      <a:tailEnd type="none" w="med" len="med"/>
                    </a:lnT>
                    <a:lnB w="12700" cap="flat" cmpd="sng" algn="ctr">
                      <a:solidFill>
                        <a:srgbClr val="C8C7C5"/>
                      </a:solidFill>
                      <a:prstDash val="solid"/>
                      <a:round/>
                      <a:headEnd type="none" w="med" len="med"/>
                      <a:tailEnd type="none" w="med" len="med"/>
                    </a:lnB>
                    <a:solidFill>
                      <a:srgbClr val="FBFAF7"/>
                    </a:solidFill>
                  </a:tcPr>
                </a:tc>
                <a:tc>
                  <a:txBody>
                    <a:bodyPr/>
                    <a:lstStyle/>
                    <a:p>
                      <a:pPr marL="0" indent="0">
                        <a:lnSpc>
                          <a:spcPts val="1960"/>
                        </a:lnSpc>
                        <a:buNone/>
                      </a:pPr>
                      <a:r>
                        <a:rPr lang="en-US" sz="1400" dirty="0">
                          <a:solidFill>
                            <a:srgbClr val="0F1B2D"/>
                          </a:solidFill>
                          <a:latin typeface="DM Sans" pitchFamily="34" charset="0"/>
                          <a:ea typeface="DM Sans" pitchFamily="34" charset="-122"/>
                          <a:cs typeface="DM Sans" pitchFamily="34" charset="-120"/>
                        </a:rPr>
                        <a:t>/api/clients/:id, /api/projects/:id</a:t>
                      </a:r>
                      <a:endParaRPr lang="en-US" sz="1400" dirty="0">
                        <a:latin typeface="DM Sans" charset="0"/>
                        <a:ea typeface="DM Sans" charset="0"/>
                        <a:cs typeface="DM Sans" charset="0"/>
                      </a:endParaRPr>
                    </a:p>
                  </a:txBody>
                  <a:tcPr marL="62230" marR="62230" marT="62230" marB="62230">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BCBAB3"/>
                      </a:solidFill>
                      <a:prstDash val="solid"/>
                      <a:round/>
                      <a:headEnd type="none" w="med" len="med"/>
                      <a:tailEnd type="none" w="med" len="med"/>
                    </a:lnT>
                    <a:lnB w="12700" cap="flat" cmpd="sng" algn="ctr">
                      <a:solidFill>
                        <a:srgbClr val="C8C7C5"/>
                      </a:solidFill>
                      <a:prstDash val="solid"/>
                      <a:round/>
                      <a:headEnd type="none" w="med" len="med"/>
                      <a:tailEnd type="none" w="med" len="med"/>
                    </a:lnB>
                    <a:solidFill>
                      <a:srgbClr val="FBFAF7"/>
                    </a:solidFill>
                  </a:tcPr>
                </a:tc>
              </a:tr>
              <a:tr h="385961">
                <a:tc>
                  <a:txBody>
                    <a:bodyPr/>
                    <a:lstStyle/>
                    <a:p>
                      <a:pPr marL="0" indent="0">
                        <a:lnSpc>
                          <a:spcPts val="1960"/>
                        </a:lnSpc>
                        <a:buNone/>
                      </a:pPr>
                      <a:r>
                        <a:rPr lang="en-US" sz="1400" dirty="0">
                          <a:solidFill>
                            <a:srgbClr val="0F1B2D"/>
                          </a:solidFill>
                          <a:latin typeface="DM Sans" pitchFamily="34" charset="0"/>
                          <a:ea typeface="DM Sans" pitchFamily="34" charset="-122"/>
                          <a:cs typeface="DM Sans" pitchFamily="34" charset="-120"/>
                        </a:rPr>
                        <a:t>Delete</a:t>
                      </a:r>
                      <a:endParaRPr lang="en-US" sz="1400" dirty="0">
                        <a:latin typeface="DM Sans" charset="0"/>
                        <a:ea typeface="DM Sans" charset="0"/>
                        <a:cs typeface="DM Sans" charset="0"/>
                      </a:endParaRPr>
                    </a:p>
                  </a:txBody>
                  <a:tcPr marL="62230" marR="62230" marT="62230" marB="62230">
                    <a:lnL w="12700" cap="flat" cmpd="sng" algn="ctr">
                      <a:solidFill>
                        <a:srgbClr val="C3C1BC"/>
                      </a:solidFill>
                      <a:prstDash val="solid"/>
                      <a:round/>
                      <a:headEnd type="none" w="med" len="med"/>
                      <a:tailEnd type="none" w="med" len="med"/>
                    </a:lnL>
                    <a:lnR w="12700" cap="flat" cmpd="sng" algn="ctr">
                      <a:solidFill>
                        <a:srgbClr val="BCBAB3"/>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BCBAB3"/>
                      </a:solidFill>
                      <a:prstDash val="solid"/>
                      <a:round/>
                      <a:headEnd type="none" w="med" len="med"/>
                      <a:tailEnd type="none" w="med" len="med"/>
                    </a:lnB>
                    <a:solidFill>
                      <a:srgbClr val="ECE9E0"/>
                    </a:solidFill>
                  </a:tcPr>
                </a:tc>
                <a:tc>
                  <a:txBody>
                    <a:bodyPr/>
                    <a:lstStyle/>
                    <a:p>
                      <a:pPr marL="0" indent="0">
                        <a:lnSpc>
                          <a:spcPts val="1960"/>
                        </a:lnSpc>
                        <a:buNone/>
                      </a:pPr>
                      <a:r>
                        <a:rPr lang="en-US" sz="1400" dirty="0">
                          <a:solidFill>
                            <a:srgbClr val="0F1B2D"/>
                          </a:solidFill>
                          <a:latin typeface="DM Sans" pitchFamily="34" charset="0"/>
                          <a:ea typeface="DM Sans" pitchFamily="34" charset="-122"/>
                          <a:cs typeface="DM Sans" pitchFamily="34" charset="-120"/>
                        </a:rPr>
                        <a:t>Delete with confirmation</a:t>
                      </a:r>
                      <a:endParaRPr lang="en-US" sz="1400" dirty="0">
                        <a:latin typeface="DM Sans" charset="0"/>
                        <a:ea typeface="DM Sans" charset="0"/>
                        <a:cs typeface="DM Sans" charset="0"/>
                      </a:endParaRPr>
                    </a:p>
                  </a:txBody>
                  <a:tcPr marL="62230" marR="62230" marT="62230" marB="62230">
                    <a:lnL w="12700" cap="flat" cmpd="sng" algn="ctr">
                      <a:solidFill>
                        <a:srgbClr val="BCBAB3"/>
                      </a:solidFill>
                      <a:prstDash val="solid"/>
                      <a:round/>
                      <a:headEnd type="none" w="med" len="med"/>
                      <a:tailEnd type="none" w="med" len="med"/>
                    </a:lnL>
                    <a:lnR w="12700" cap="flat" cmpd="sng" algn="ctr">
                      <a:solidFill>
                        <a:srgbClr val="BCBAB3"/>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BCBAB3"/>
                      </a:solidFill>
                      <a:prstDash val="solid"/>
                      <a:round/>
                      <a:headEnd type="none" w="med" len="med"/>
                      <a:tailEnd type="none" w="med" len="med"/>
                    </a:lnB>
                    <a:solidFill>
                      <a:srgbClr val="ECE9E0"/>
                    </a:solidFill>
                  </a:tcPr>
                </a:tc>
                <a:tc>
                  <a:txBody>
                    <a:bodyPr/>
                    <a:lstStyle/>
                    <a:p>
                      <a:pPr marL="0" indent="0">
                        <a:lnSpc>
                          <a:spcPts val="1960"/>
                        </a:lnSpc>
                        <a:buNone/>
                      </a:pPr>
                      <a:r>
                        <a:rPr lang="en-US" sz="1400" dirty="0">
                          <a:solidFill>
                            <a:srgbClr val="0F1B2D"/>
                          </a:solidFill>
                          <a:latin typeface="DM Sans" pitchFamily="34" charset="0"/>
                          <a:ea typeface="DM Sans" pitchFamily="34" charset="-122"/>
                          <a:cs typeface="DM Sans" pitchFamily="34" charset="-120"/>
                        </a:rPr>
                        <a:t>DELETE</a:t>
                      </a:r>
                      <a:endParaRPr lang="en-US" sz="1400" dirty="0">
                        <a:latin typeface="DM Sans" charset="0"/>
                        <a:ea typeface="DM Sans" charset="0"/>
                        <a:cs typeface="DM Sans" charset="0"/>
                      </a:endParaRPr>
                    </a:p>
                  </a:txBody>
                  <a:tcPr marL="62230" marR="62230" marT="62230" marB="62230">
                    <a:lnL w="12700" cap="flat" cmpd="sng" algn="ctr">
                      <a:solidFill>
                        <a:srgbClr val="BCBAB3"/>
                      </a:solidFill>
                      <a:prstDash val="solid"/>
                      <a:round/>
                      <a:headEnd type="none" w="med" len="med"/>
                      <a:tailEnd type="none" w="med" len="med"/>
                    </a:lnL>
                    <a:lnR w="12700" cap="flat" cmpd="sng" algn="ctr">
                      <a:solidFill>
                        <a:srgbClr val="BCBAB3"/>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BCBAB3"/>
                      </a:solidFill>
                      <a:prstDash val="solid"/>
                      <a:round/>
                      <a:headEnd type="none" w="med" len="med"/>
                      <a:tailEnd type="none" w="med" len="med"/>
                    </a:lnB>
                    <a:solidFill>
                      <a:srgbClr val="ECE9E0"/>
                    </a:solidFill>
                  </a:tcPr>
                </a:tc>
                <a:tc>
                  <a:txBody>
                    <a:bodyPr/>
                    <a:lstStyle/>
                    <a:p>
                      <a:pPr marL="0" indent="0">
                        <a:lnSpc>
                          <a:spcPts val="1960"/>
                        </a:lnSpc>
                        <a:buNone/>
                      </a:pPr>
                      <a:r>
                        <a:rPr lang="en-US" sz="1400" dirty="0">
                          <a:solidFill>
                            <a:srgbClr val="0F1B2D"/>
                          </a:solidFill>
                          <a:latin typeface="DM Sans" pitchFamily="34" charset="0"/>
                          <a:ea typeface="DM Sans" pitchFamily="34" charset="-122"/>
                          <a:cs typeface="DM Sans" pitchFamily="34" charset="-120"/>
                        </a:rPr>
                        <a:t>/api/clients/:id, /api/projects/:id</a:t>
                      </a:r>
                      <a:endParaRPr lang="en-US" sz="1400" dirty="0">
                        <a:latin typeface="DM Sans" charset="0"/>
                        <a:ea typeface="DM Sans" charset="0"/>
                        <a:cs typeface="DM Sans" charset="0"/>
                      </a:endParaRPr>
                    </a:p>
                  </a:txBody>
                  <a:tcPr marL="62230" marR="62230" marT="62230" marB="62230">
                    <a:lnL w="12700" cap="flat" cmpd="sng" algn="ctr">
                      <a:solidFill>
                        <a:srgbClr val="BCBAB3"/>
                      </a:solidFill>
                      <a:prstDash val="solid"/>
                      <a:round/>
                      <a:headEnd type="none" w="med" len="med"/>
                      <a:tailEnd type="none" w="med" len="med"/>
                    </a:lnL>
                    <a:lnR w="12700" cap="flat" cmpd="sng" algn="ctr">
                      <a:solidFill>
                        <a:srgbClr val="BCBAB3"/>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BCBAB3"/>
                      </a:solidFill>
                      <a:prstDash val="solid"/>
                      <a:round/>
                      <a:headEnd type="none" w="med" len="med"/>
                      <a:tailEnd type="none" w="med" len="med"/>
                    </a:lnB>
                    <a:solidFill>
                      <a:srgbClr val="ECE9E0"/>
                    </a:solidFill>
                  </a:tcPr>
                </a:tc>
              </a:tr>
            </a:tbl>
          </a:graphicData>
        </a:graphic>
      </p:graphicFrame>
      <p:sp>
        <p:nvSpPr>
          <p:cNvPr id="5" name="Text 2"/>
          <p:cNvSpPr/>
          <p:nvPr/>
        </p:nvSpPr>
        <p:spPr>
          <a:xfrm>
            <a:off x="812800" y="4144566"/>
            <a:ext cx="10883392"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F4A5A"/>
                </a:solidFill>
                <a:latin typeface="DM Sans" pitchFamily="34" charset="0"/>
                <a:ea typeface="DM Sans" pitchFamily="34" charset="-122"/>
                <a:cs typeface="DM Sans" pitchFamily="34" charset="-120"/>
              </a:rPr>
              <a:t>Live demo: run all four actions on a client, then on a project, and show each change in the list.</a:t>
            </a:r>
            <a:endParaRPr lang="en-US" sz="1400" dirty="0"/>
          </a:p>
        </p:txBody>
      </p:sp>
      <p:sp>
        <p:nvSpPr>
          <p:cNvPr id="6" name="Text 3"/>
          <p:cNvSpPr/>
          <p:nvPr/>
        </p:nvSpPr>
        <p:spPr>
          <a:xfrm>
            <a:off x="812800" y="6238280"/>
            <a:ext cx="65405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472"/>
                </a:solidFill>
                <a:latin typeface="DM Sans" pitchFamily="34" charset="0"/>
                <a:ea typeface="DM Sans" pitchFamily="34" charset="-122"/>
                <a:cs typeface="DM Sans" pitchFamily="34" charset="-120"/>
              </a:rPr>
              <a:t>Freelancer Project Management · MERN Stack</a:t>
            </a:r>
            <a:endParaRPr lang="en-US" sz="1200" dirty="0"/>
          </a:p>
        </p:txBody>
      </p:sp>
      <p:sp>
        <p:nvSpPr>
          <p:cNvPr id="7" name="Text 4"/>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472"/>
                </a:solidFill>
                <a:latin typeface="DM Sans" pitchFamily="34" charset="0"/>
                <a:ea typeface="DM Sans" pitchFamily="34" charset="-122"/>
                <a:cs typeface="DM Sans" pitchFamily="34" charset="-120"/>
              </a:rPr>
              <a:t>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2E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kern="0" spc="150" dirty="0">
                <a:solidFill>
                  <a:srgbClr val="0F766E"/>
                </a:solidFill>
                <a:latin typeface="DM Sans" pitchFamily="34" charset="0"/>
                <a:ea typeface="DM Sans" pitchFamily="34" charset="-122"/>
                <a:cs typeface="DM Sans" pitchFamily="34" charset="-120"/>
              </a:rPr>
              <a:t>REST APIS · POSTMAN OR NETWORK TAB</a:t>
            </a:r>
            <a:endParaRPr lang="en-US" sz="1300" dirty="0"/>
          </a:p>
        </p:txBody>
      </p:sp>
      <p:sp>
        <p:nvSpPr>
          <p:cNvPr id="3" name="Text 1"/>
          <p:cNvSpPr>
            <a:spLocks noGrp="1"/>
          </p:cNvSpPr>
          <p:nvPr>
            <p:ph type="title"/>
          </p:nvPr>
        </p:nvSpPr>
        <p:spPr>
          <a:xfrm>
            <a:off x="812800" y="114548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0F1B2D"/>
                </a:solidFill>
                <a:latin typeface="DM Sans" pitchFamily="34" charset="0"/>
                <a:ea typeface="DM Sans" pitchFamily="34" charset="-122"/>
                <a:cs typeface="DM Sans" pitchFamily="34" charset="-120"/>
              </a:rPr>
              <a:t>API endpoints</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33761"/>
          <a:ext cx="10553700" cy="3233440"/>
        </p:xfrm>
        <a:graphic>
          <a:graphicData uri="http://schemas.openxmlformats.org/drawingml/2006/table">
            <a:tbl>
              <a:tblPr/>
              <a:tblGrid>
                <a:gridCol w="2110740"/>
                <a:gridCol w="4010406"/>
                <a:gridCol w="4432554"/>
              </a:tblGrid>
              <a:tr h="359271">
                <a:tc>
                  <a:txBody>
                    <a:bodyPr/>
                    <a:lstStyle/>
                    <a:p>
                      <a:pPr marL="0" indent="0">
                        <a:lnSpc>
                          <a:spcPts val="1820"/>
                        </a:lnSpc>
                        <a:buNone/>
                      </a:pPr>
                      <a:r>
                        <a:rPr lang="en-US" sz="1300" b="1" dirty="0">
                          <a:solidFill>
                            <a:srgbClr val="F4F7FB"/>
                          </a:solidFill>
                          <a:latin typeface="DM Sans" pitchFamily="34" charset="0"/>
                          <a:ea typeface="DM Sans" pitchFamily="34" charset="-122"/>
                          <a:cs typeface="DM Sans" pitchFamily="34" charset="-120"/>
                        </a:rPr>
                        <a:t>Method</a:t>
                      </a:r>
                      <a:endParaRPr lang="en-US" sz="1300" dirty="0">
                        <a:latin typeface="DM Sans" charset="0"/>
                        <a:ea typeface="DM Sans" charset="0"/>
                        <a:cs typeface="DM Sans"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101927"/>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101927"/>
                      </a:solidFill>
                      <a:prstDash val="solid"/>
                      <a:round/>
                      <a:headEnd type="none" w="med" len="med"/>
                      <a:tailEnd type="none" w="med" len="med"/>
                    </a:lnB>
                    <a:solidFill>
                      <a:srgbClr val="0F1B2D"/>
                    </a:solidFill>
                  </a:tcPr>
                </a:tc>
                <a:tc>
                  <a:txBody>
                    <a:bodyPr/>
                    <a:lstStyle/>
                    <a:p>
                      <a:pPr marL="0" indent="0">
                        <a:lnSpc>
                          <a:spcPts val="1820"/>
                        </a:lnSpc>
                        <a:buNone/>
                      </a:pPr>
                      <a:r>
                        <a:rPr lang="en-US" sz="1300" b="1" dirty="0">
                          <a:solidFill>
                            <a:srgbClr val="F4F7FB"/>
                          </a:solidFill>
                          <a:latin typeface="DM Sans" pitchFamily="34" charset="0"/>
                          <a:ea typeface="DM Sans" pitchFamily="34" charset="-122"/>
                          <a:cs typeface="DM Sans" pitchFamily="34" charset="-120"/>
                        </a:rPr>
                        <a:t>Endpoint</a:t>
                      </a:r>
                      <a:endParaRPr lang="en-US" sz="1300" dirty="0">
                        <a:latin typeface="DM Sans" charset="0"/>
                        <a:ea typeface="DM Sans" charset="0"/>
                        <a:cs typeface="DM Sans" charset="0"/>
                      </a:endParaRPr>
                    </a:p>
                  </a:txBody>
                  <a:tcPr marL="57785" marR="57785" marT="57785" marB="57785">
                    <a:lnL w="12700" cap="flat" cmpd="sng" algn="ctr">
                      <a:solidFill>
                        <a:srgbClr val="101927"/>
                      </a:solidFill>
                      <a:prstDash val="solid"/>
                      <a:round/>
                      <a:headEnd type="none" w="med" len="med"/>
                      <a:tailEnd type="none" w="med" len="med"/>
                    </a:lnL>
                    <a:lnR w="12700" cap="flat" cmpd="sng" algn="ctr">
                      <a:solidFill>
                        <a:srgbClr val="101927"/>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101927"/>
                      </a:solidFill>
                      <a:prstDash val="solid"/>
                      <a:round/>
                      <a:headEnd type="none" w="med" len="med"/>
                      <a:tailEnd type="none" w="med" len="med"/>
                    </a:lnB>
                    <a:solidFill>
                      <a:srgbClr val="0F1B2D"/>
                    </a:solidFill>
                  </a:tcPr>
                </a:tc>
                <a:tc>
                  <a:txBody>
                    <a:bodyPr/>
                    <a:lstStyle/>
                    <a:p>
                      <a:pPr marL="0" indent="0">
                        <a:lnSpc>
                          <a:spcPts val="1820"/>
                        </a:lnSpc>
                        <a:buNone/>
                      </a:pPr>
                      <a:r>
                        <a:rPr lang="en-US" sz="1300" b="1" dirty="0">
                          <a:solidFill>
                            <a:srgbClr val="F4F7FB"/>
                          </a:solidFill>
                          <a:latin typeface="DM Sans" pitchFamily="34" charset="0"/>
                          <a:ea typeface="DM Sans" pitchFamily="34" charset="-122"/>
                          <a:cs typeface="DM Sans" pitchFamily="34" charset="-120"/>
                        </a:rPr>
                        <a:t>Purpose</a:t>
                      </a:r>
                      <a:endParaRPr lang="en-US" sz="1300" dirty="0">
                        <a:latin typeface="DM Sans" charset="0"/>
                        <a:ea typeface="DM Sans" charset="0"/>
                        <a:cs typeface="DM Sans" charset="0"/>
                      </a:endParaRPr>
                    </a:p>
                  </a:txBody>
                  <a:tcPr marL="57785" marR="57785" marT="57785" marB="57785">
                    <a:lnL w="12700" cap="flat" cmpd="sng" algn="ctr">
                      <a:solidFill>
                        <a:srgbClr val="101927"/>
                      </a:solidFill>
                      <a:prstDash val="solid"/>
                      <a:round/>
                      <a:headEnd type="none" w="med" len="med"/>
                      <a:tailEnd type="none" w="med" len="med"/>
                    </a:lnL>
                    <a:lnR w="12700" cap="flat" cmpd="sng" algn="ctr">
                      <a:solidFill>
                        <a:srgbClr val="101927"/>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101927"/>
                      </a:solidFill>
                      <a:prstDash val="solid"/>
                      <a:round/>
                      <a:headEnd type="none" w="med" len="med"/>
                      <a:tailEnd type="none" w="med" len="med"/>
                    </a:lnB>
                    <a:solidFill>
                      <a:srgbClr val="0F1B2D"/>
                    </a:solidFill>
                  </a:tcPr>
                </a:tc>
              </a:tr>
              <a:tr h="359271">
                <a:tc>
                  <a:txBody>
                    <a:bodyPr/>
                    <a:lstStyle/>
                    <a:p>
                      <a:pPr marL="0" indent="0">
                        <a:lnSpc>
                          <a:spcPts val="1820"/>
                        </a:lnSpc>
                        <a:buNone/>
                      </a:pPr>
                      <a:r>
                        <a:rPr lang="en-US" sz="1300" dirty="0">
                          <a:solidFill>
                            <a:srgbClr val="0F1B2D"/>
                          </a:solidFill>
                          <a:latin typeface="DM Sans" pitchFamily="34" charset="0"/>
                          <a:ea typeface="DM Sans" pitchFamily="34" charset="-122"/>
                          <a:cs typeface="DM Sans" pitchFamily="34" charset="-120"/>
                        </a:rPr>
                        <a:t>POST</a:t>
                      </a:r>
                      <a:endParaRPr lang="en-US" sz="1300" dirty="0">
                        <a:latin typeface="DM Sans" charset="0"/>
                        <a:ea typeface="DM Sans" charset="0"/>
                        <a:cs typeface="DM Sans"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101927"/>
                      </a:solidFill>
                      <a:prstDash val="solid"/>
                      <a:round/>
                      <a:headEnd type="none" w="med" len="med"/>
                      <a:tailEnd type="none" w="med" len="med"/>
                    </a:lnT>
                    <a:lnB w="12700" cap="flat" cmpd="sng" algn="ctr">
                      <a:solidFill>
                        <a:srgbClr val="C8C7C5"/>
                      </a:solidFill>
                      <a:prstDash val="solid"/>
                      <a:round/>
                      <a:headEnd type="none" w="med" len="med"/>
                      <a:tailEnd type="none" w="med" len="med"/>
                    </a:lnB>
                    <a:solidFill>
                      <a:srgbClr val="FBFAF7"/>
                    </a:solidFill>
                  </a:tcPr>
                </a:tc>
                <a:tc>
                  <a:txBody>
                    <a:bodyPr/>
                    <a:lstStyle/>
                    <a:p>
                      <a:pPr marL="0" indent="0">
                        <a:lnSpc>
                          <a:spcPts val="1820"/>
                        </a:lnSpc>
                        <a:buNone/>
                      </a:pPr>
                      <a:r>
                        <a:rPr lang="en-US" sz="1300" dirty="0">
                          <a:solidFill>
                            <a:srgbClr val="0F1B2D"/>
                          </a:solidFill>
                          <a:latin typeface="DM Sans" pitchFamily="34" charset="0"/>
                          <a:ea typeface="DM Sans" pitchFamily="34" charset="-122"/>
                          <a:cs typeface="DM Sans" pitchFamily="34" charset="-120"/>
                        </a:rPr>
                        <a:t>/api/auth/login</a:t>
                      </a:r>
                      <a:endParaRPr lang="en-US" sz="1300" dirty="0">
                        <a:latin typeface="DM Sans" charset="0"/>
                        <a:ea typeface="DM Sans" charset="0"/>
                        <a:cs typeface="DM Sans" charset="0"/>
                      </a:endParaRPr>
                    </a:p>
                  </a:txBody>
                  <a:tcPr marL="57785" marR="57785" marT="57785" marB="57785">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101927"/>
                      </a:solidFill>
                      <a:prstDash val="solid"/>
                      <a:round/>
                      <a:headEnd type="none" w="med" len="med"/>
                      <a:tailEnd type="none" w="med" len="med"/>
                    </a:lnT>
                    <a:lnB w="12700" cap="flat" cmpd="sng" algn="ctr">
                      <a:solidFill>
                        <a:srgbClr val="C8C7C5"/>
                      </a:solidFill>
                      <a:prstDash val="solid"/>
                      <a:round/>
                      <a:headEnd type="none" w="med" len="med"/>
                      <a:tailEnd type="none" w="med" len="med"/>
                    </a:lnB>
                    <a:solidFill>
                      <a:srgbClr val="FBFAF7"/>
                    </a:solidFill>
                  </a:tcPr>
                </a:tc>
                <a:tc>
                  <a:txBody>
                    <a:bodyPr/>
                    <a:lstStyle/>
                    <a:p>
                      <a:pPr marL="0" indent="0">
                        <a:lnSpc>
                          <a:spcPts val="1820"/>
                        </a:lnSpc>
                        <a:buNone/>
                      </a:pPr>
                      <a:r>
                        <a:rPr lang="en-US" sz="1300" dirty="0">
                          <a:solidFill>
                            <a:srgbClr val="0F1B2D"/>
                          </a:solidFill>
                          <a:latin typeface="DM Sans" pitchFamily="34" charset="0"/>
                          <a:ea typeface="DM Sans" pitchFamily="34" charset="-122"/>
                          <a:cs typeface="DM Sans" pitchFamily="34" charset="-120"/>
                        </a:rPr>
                        <a:t>Log in and receive a JWT</a:t>
                      </a:r>
                      <a:endParaRPr lang="en-US" sz="1300" dirty="0">
                        <a:latin typeface="DM Sans" charset="0"/>
                        <a:ea typeface="DM Sans" charset="0"/>
                        <a:cs typeface="DM Sans" charset="0"/>
                      </a:endParaRPr>
                    </a:p>
                  </a:txBody>
                  <a:tcPr marL="57785" marR="57785" marT="57785" marB="57785">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101927"/>
                      </a:solidFill>
                      <a:prstDash val="solid"/>
                      <a:round/>
                      <a:headEnd type="none" w="med" len="med"/>
                      <a:tailEnd type="none" w="med" len="med"/>
                    </a:lnT>
                    <a:lnB w="12700" cap="flat" cmpd="sng" algn="ctr">
                      <a:solidFill>
                        <a:srgbClr val="C8C7C5"/>
                      </a:solidFill>
                      <a:prstDash val="solid"/>
                      <a:round/>
                      <a:headEnd type="none" w="med" len="med"/>
                      <a:tailEnd type="none" w="med" len="med"/>
                    </a:lnB>
                    <a:solidFill>
                      <a:srgbClr val="FBFAF7"/>
                    </a:solidFill>
                  </a:tcPr>
                </a:tc>
              </a:tr>
              <a:tr h="359271">
                <a:tc>
                  <a:txBody>
                    <a:bodyPr/>
                    <a:lstStyle/>
                    <a:p>
                      <a:pPr marL="0" indent="0">
                        <a:lnSpc>
                          <a:spcPts val="1820"/>
                        </a:lnSpc>
                        <a:buNone/>
                      </a:pPr>
                      <a:r>
                        <a:rPr lang="en-US" sz="1300" dirty="0">
                          <a:solidFill>
                            <a:srgbClr val="0F1B2D"/>
                          </a:solidFill>
                          <a:latin typeface="DM Sans" pitchFamily="34" charset="0"/>
                          <a:ea typeface="DM Sans" pitchFamily="34" charset="-122"/>
                          <a:cs typeface="DM Sans" pitchFamily="34" charset="-120"/>
                        </a:rPr>
                        <a:t>GET</a:t>
                      </a:r>
                      <a:endParaRPr lang="en-US" sz="1300" dirty="0">
                        <a:latin typeface="DM Sans" charset="0"/>
                        <a:ea typeface="DM Sans" charset="0"/>
                        <a:cs typeface="DM Sans"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BCBAB3"/>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BCBAB3"/>
                      </a:solidFill>
                      <a:prstDash val="solid"/>
                      <a:round/>
                      <a:headEnd type="none" w="med" len="med"/>
                      <a:tailEnd type="none" w="med" len="med"/>
                    </a:lnB>
                    <a:solidFill>
                      <a:srgbClr val="ECE9E0"/>
                    </a:solidFill>
                  </a:tcPr>
                </a:tc>
                <a:tc>
                  <a:txBody>
                    <a:bodyPr/>
                    <a:lstStyle/>
                    <a:p>
                      <a:pPr marL="0" indent="0">
                        <a:lnSpc>
                          <a:spcPts val="1820"/>
                        </a:lnSpc>
                        <a:buNone/>
                      </a:pPr>
                      <a:r>
                        <a:rPr lang="en-US" sz="1300" dirty="0">
                          <a:solidFill>
                            <a:srgbClr val="0F1B2D"/>
                          </a:solidFill>
                          <a:latin typeface="DM Sans" pitchFamily="34" charset="0"/>
                          <a:ea typeface="DM Sans" pitchFamily="34" charset="-122"/>
                          <a:cs typeface="DM Sans" pitchFamily="34" charset="-120"/>
                        </a:rPr>
                        <a:t>/api/clients</a:t>
                      </a:r>
                      <a:endParaRPr lang="en-US" sz="1300" dirty="0">
                        <a:latin typeface="DM Sans" charset="0"/>
                        <a:ea typeface="DM Sans" charset="0"/>
                        <a:cs typeface="DM Sans" charset="0"/>
                      </a:endParaRPr>
                    </a:p>
                  </a:txBody>
                  <a:tcPr marL="57785" marR="57785" marT="57785" marB="57785">
                    <a:lnL w="12700" cap="flat" cmpd="sng" algn="ctr">
                      <a:solidFill>
                        <a:srgbClr val="BCBAB3"/>
                      </a:solidFill>
                      <a:prstDash val="solid"/>
                      <a:round/>
                      <a:headEnd type="none" w="med" len="med"/>
                      <a:tailEnd type="none" w="med" len="med"/>
                    </a:lnL>
                    <a:lnR w="12700" cap="flat" cmpd="sng" algn="ctr">
                      <a:solidFill>
                        <a:srgbClr val="BCBAB3"/>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BCBAB3"/>
                      </a:solidFill>
                      <a:prstDash val="solid"/>
                      <a:round/>
                      <a:headEnd type="none" w="med" len="med"/>
                      <a:tailEnd type="none" w="med" len="med"/>
                    </a:lnB>
                    <a:solidFill>
                      <a:srgbClr val="ECE9E0"/>
                    </a:solidFill>
                  </a:tcPr>
                </a:tc>
                <a:tc>
                  <a:txBody>
                    <a:bodyPr/>
                    <a:lstStyle/>
                    <a:p>
                      <a:pPr marL="0" indent="0">
                        <a:lnSpc>
                          <a:spcPts val="1820"/>
                        </a:lnSpc>
                        <a:buNone/>
                      </a:pPr>
                      <a:r>
                        <a:rPr lang="en-US" sz="1300" dirty="0">
                          <a:solidFill>
                            <a:srgbClr val="0F1B2D"/>
                          </a:solidFill>
                          <a:latin typeface="DM Sans" pitchFamily="34" charset="0"/>
                          <a:ea typeface="DM Sans" pitchFamily="34" charset="-122"/>
                          <a:cs typeface="DM Sans" pitchFamily="34" charset="-120"/>
                        </a:rPr>
                        <a:t>List clients</a:t>
                      </a:r>
                      <a:endParaRPr lang="en-US" sz="1300" dirty="0">
                        <a:latin typeface="DM Sans" charset="0"/>
                        <a:ea typeface="DM Sans" charset="0"/>
                        <a:cs typeface="DM Sans" charset="0"/>
                      </a:endParaRPr>
                    </a:p>
                  </a:txBody>
                  <a:tcPr marL="57785" marR="57785" marT="57785" marB="57785">
                    <a:lnL w="12700" cap="flat" cmpd="sng" algn="ctr">
                      <a:solidFill>
                        <a:srgbClr val="BCBAB3"/>
                      </a:solidFill>
                      <a:prstDash val="solid"/>
                      <a:round/>
                      <a:headEnd type="none" w="med" len="med"/>
                      <a:tailEnd type="none" w="med" len="med"/>
                    </a:lnL>
                    <a:lnR w="12700" cap="flat" cmpd="sng" algn="ctr">
                      <a:solidFill>
                        <a:srgbClr val="BCBAB3"/>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BCBAB3"/>
                      </a:solidFill>
                      <a:prstDash val="solid"/>
                      <a:round/>
                      <a:headEnd type="none" w="med" len="med"/>
                      <a:tailEnd type="none" w="med" len="med"/>
                    </a:lnB>
                    <a:solidFill>
                      <a:srgbClr val="ECE9E0"/>
                    </a:solidFill>
                  </a:tcPr>
                </a:tc>
              </a:tr>
              <a:tr h="359271">
                <a:tc>
                  <a:txBody>
                    <a:bodyPr/>
                    <a:lstStyle/>
                    <a:p>
                      <a:pPr marL="0" indent="0">
                        <a:lnSpc>
                          <a:spcPts val="1820"/>
                        </a:lnSpc>
                        <a:buNone/>
                      </a:pPr>
                      <a:r>
                        <a:rPr lang="en-US" sz="1300" dirty="0">
                          <a:solidFill>
                            <a:srgbClr val="0F1B2D"/>
                          </a:solidFill>
                          <a:latin typeface="DM Sans" pitchFamily="34" charset="0"/>
                          <a:ea typeface="DM Sans" pitchFamily="34" charset="-122"/>
                          <a:cs typeface="DM Sans" pitchFamily="34" charset="-120"/>
                        </a:rPr>
                        <a:t>POST</a:t>
                      </a:r>
                      <a:endParaRPr lang="en-US" sz="1300" dirty="0">
                        <a:latin typeface="DM Sans" charset="0"/>
                        <a:ea typeface="DM Sans" charset="0"/>
                        <a:cs typeface="DM Sans"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BCBAB3"/>
                      </a:solidFill>
                      <a:prstDash val="solid"/>
                      <a:round/>
                      <a:headEnd type="none" w="med" len="med"/>
                      <a:tailEnd type="none" w="med" len="med"/>
                    </a:lnT>
                    <a:lnB w="12700" cap="flat" cmpd="sng" algn="ctr">
                      <a:solidFill>
                        <a:srgbClr val="C8C7C5"/>
                      </a:solidFill>
                      <a:prstDash val="solid"/>
                      <a:round/>
                      <a:headEnd type="none" w="med" len="med"/>
                      <a:tailEnd type="none" w="med" len="med"/>
                    </a:lnB>
                    <a:solidFill>
                      <a:srgbClr val="FBFAF7"/>
                    </a:solidFill>
                  </a:tcPr>
                </a:tc>
                <a:tc>
                  <a:txBody>
                    <a:bodyPr/>
                    <a:lstStyle/>
                    <a:p>
                      <a:pPr marL="0" indent="0">
                        <a:lnSpc>
                          <a:spcPts val="1820"/>
                        </a:lnSpc>
                        <a:buNone/>
                      </a:pPr>
                      <a:r>
                        <a:rPr lang="en-US" sz="1300" dirty="0">
                          <a:solidFill>
                            <a:srgbClr val="0F1B2D"/>
                          </a:solidFill>
                          <a:latin typeface="DM Sans" pitchFamily="34" charset="0"/>
                          <a:ea typeface="DM Sans" pitchFamily="34" charset="-122"/>
                          <a:cs typeface="DM Sans" pitchFamily="34" charset="-120"/>
                        </a:rPr>
                        <a:t>/api/clients</a:t>
                      </a:r>
                      <a:endParaRPr lang="en-US" sz="1300" dirty="0">
                        <a:latin typeface="DM Sans" charset="0"/>
                        <a:ea typeface="DM Sans" charset="0"/>
                        <a:cs typeface="DM Sans" charset="0"/>
                      </a:endParaRPr>
                    </a:p>
                  </a:txBody>
                  <a:tcPr marL="57785" marR="57785" marT="57785" marB="57785">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BCBAB3"/>
                      </a:solidFill>
                      <a:prstDash val="solid"/>
                      <a:round/>
                      <a:headEnd type="none" w="med" len="med"/>
                      <a:tailEnd type="none" w="med" len="med"/>
                    </a:lnT>
                    <a:lnB w="12700" cap="flat" cmpd="sng" algn="ctr">
                      <a:solidFill>
                        <a:srgbClr val="C8C7C5"/>
                      </a:solidFill>
                      <a:prstDash val="solid"/>
                      <a:round/>
                      <a:headEnd type="none" w="med" len="med"/>
                      <a:tailEnd type="none" w="med" len="med"/>
                    </a:lnB>
                    <a:solidFill>
                      <a:srgbClr val="FBFAF7"/>
                    </a:solidFill>
                  </a:tcPr>
                </a:tc>
                <a:tc>
                  <a:txBody>
                    <a:bodyPr/>
                    <a:lstStyle/>
                    <a:p>
                      <a:pPr marL="0" indent="0">
                        <a:lnSpc>
                          <a:spcPts val="1820"/>
                        </a:lnSpc>
                        <a:buNone/>
                      </a:pPr>
                      <a:r>
                        <a:rPr lang="en-US" sz="1300" dirty="0">
                          <a:solidFill>
                            <a:srgbClr val="0F1B2D"/>
                          </a:solidFill>
                          <a:latin typeface="DM Sans" pitchFamily="34" charset="0"/>
                          <a:ea typeface="DM Sans" pitchFamily="34" charset="-122"/>
                          <a:cs typeface="DM Sans" pitchFamily="34" charset="-120"/>
                        </a:rPr>
                        <a:t>Create a client</a:t>
                      </a:r>
                      <a:endParaRPr lang="en-US" sz="1300" dirty="0">
                        <a:latin typeface="DM Sans" charset="0"/>
                        <a:ea typeface="DM Sans" charset="0"/>
                        <a:cs typeface="DM Sans" charset="0"/>
                      </a:endParaRPr>
                    </a:p>
                  </a:txBody>
                  <a:tcPr marL="57785" marR="57785" marT="57785" marB="57785">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BCBAB3"/>
                      </a:solidFill>
                      <a:prstDash val="solid"/>
                      <a:round/>
                      <a:headEnd type="none" w="med" len="med"/>
                      <a:tailEnd type="none" w="med" len="med"/>
                    </a:lnT>
                    <a:lnB w="12700" cap="flat" cmpd="sng" algn="ctr">
                      <a:solidFill>
                        <a:srgbClr val="C8C7C5"/>
                      </a:solidFill>
                      <a:prstDash val="solid"/>
                      <a:round/>
                      <a:headEnd type="none" w="med" len="med"/>
                      <a:tailEnd type="none" w="med" len="med"/>
                    </a:lnB>
                    <a:solidFill>
                      <a:srgbClr val="FBFAF7"/>
                    </a:solidFill>
                  </a:tcPr>
                </a:tc>
              </a:tr>
              <a:tr h="359271">
                <a:tc>
                  <a:txBody>
                    <a:bodyPr/>
                    <a:lstStyle/>
                    <a:p>
                      <a:pPr marL="0" indent="0">
                        <a:lnSpc>
                          <a:spcPts val="1820"/>
                        </a:lnSpc>
                        <a:buNone/>
                      </a:pPr>
                      <a:r>
                        <a:rPr lang="en-US" sz="1300" dirty="0">
                          <a:solidFill>
                            <a:srgbClr val="0F1B2D"/>
                          </a:solidFill>
                          <a:latin typeface="DM Sans" pitchFamily="34" charset="0"/>
                          <a:ea typeface="DM Sans" pitchFamily="34" charset="-122"/>
                          <a:cs typeface="DM Sans" pitchFamily="34" charset="-120"/>
                        </a:rPr>
                        <a:t>PUT, DELETE</a:t>
                      </a:r>
                      <a:endParaRPr lang="en-US" sz="1300" dirty="0">
                        <a:latin typeface="DM Sans" charset="0"/>
                        <a:ea typeface="DM Sans" charset="0"/>
                        <a:cs typeface="DM Sans"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BCBAB3"/>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BCBAB3"/>
                      </a:solidFill>
                      <a:prstDash val="solid"/>
                      <a:round/>
                      <a:headEnd type="none" w="med" len="med"/>
                      <a:tailEnd type="none" w="med" len="med"/>
                    </a:lnB>
                    <a:solidFill>
                      <a:srgbClr val="ECE9E0"/>
                    </a:solidFill>
                  </a:tcPr>
                </a:tc>
                <a:tc>
                  <a:txBody>
                    <a:bodyPr/>
                    <a:lstStyle/>
                    <a:p>
                      <a:pPr marL="0" indent="0">
                        <a:lnSpc>
                          <a:spcPts val="1820"/>
                        </a:lnSpc>
                        <a:buNone/>
                      </a:pPr>
                      <a:r>
                        <a:rPr lang="en-US" sz="1300" dirty="0">
                          <a:solidFill>
                            <a:srgbClr val="0F1B2D"/>
                          </a:solidFill>
                          <a:latin typeface="DM Sans" pitchFamily="34" charset="0"/>
                          <a:ea typeface="DM Sans" pitchFamily="34" charset="-122"/>
                          <a:cs typeface="DM Sans" pitchFamily="34" charset="-120"/>
                        </a:rPr>
                        <a:t>/api/clients/:id</a:t>
                      </a:r>
                      <a:endParaRPr lang="en-US" sz="1300" dirty="0">
                        <a:latin typeface="DM Sans" charset="0"/>
                        <a:ea typeface="DM Sans" charset="0"/>
                        <a:cs typeface="DM Sans" charset="0"/>
                      </a:endParaRPr>
                    </a:p>
                  </a:txBody>
                  <a:tcPr marL="57785" marR="57785" marT="57785" marB="57785">
                    <a:lnL w="12700" cap="flat" cmpd="sng" algn="ctr">
                      <a:solidFill>
                        <a:srgbClr val="BCBAB3"/>
                      </a:solidFill>
                      <a:prstDash val="solid"/>
                      <a:round/>
                      <a:headEnd type="none" w="med" len="med"/>
                      <a:tailEnd type="none" w="med" len="med"/>
                    </a:lnL>
                    <a:lnR w="12700" cap="flat" cmpd="sng" algn="ctr">
                      <a:solidFill>
                        <a:srgbClr val="BCBAB3"/>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BCBAB3"/>
                      </a:solidFill>
                      <a:prstDash val="solid"/>
                      <a:round/>
                      <a:headEnd type="none" w="med" len="med"/>
                      <a:tailEnd type="none" w="med" len="med"/>
                    </a:lnB>
                    <a:solidFill>
                      <a:srgbClr val="ECE9E0"/>
                    </a:solidFill>
                  </a:tcPr>
                </a:tc>
                <a:tc>
                  <a:txBody>
                    <a:bodyPr/>
                    <a:lstStyle/>
                    <a:p>
                      <a:pPr marL="0" indent="0">
                        <a:lnSpc>
                          <a:spcPts val="1820"/>
                        </a:lnSpc>
                        <a:buNone/>
                      </a:pPr>
                      <a:r>
                        <a:rPr lang="en-US" sz="1300" dirty="0">
                          <a:solidFill>
                            <a:srgbClr val="0F1B2D"/>
                          </a:solidFill>
                          <a:latin typeface="DM Sans" pitchFamily="34" charset="0"/>
                          <a:ea typeface="DM Sans" pitchFamily="34" charset="-122"/>
                          <a:cs typeface="DM Sans" pitchFamily="34" charset="-120"/>
                        </a:rPr>
                        <a:t>Update or delete a client</a:t>
                      </a:r>
                      <a:endParaRPr lang="en-US" sz="1300" dirty="0">
                        <a:latin typeface="DM Sans" charset="0"/>
                        <a:ea typeface="DM Sans" charset="0"/>
                        <a:cs typeface="DM Sans" charset="0"/>
                      </a:endParaRPr>
                    </a:p>
                  </a:txBody>
                  <a:tcPr marL="57785" marR="57785" marT="57785" marB="57785">
                    <a:lnL w="12700" cap="flat" cmpd="sng" algn="ctr">
                      <a:solidFill>
                        <a:srgbClr val="BCBAB3"/>
                      </a:solidFill>
                      <a:prstDash val="solid"/>
                      <a:round/>
                      <a:headEnd type="none" w="med" len="med"/>
                      <a:tailEnd type="none" w="med" len="med"/>
                    </a:lnL>
                    <a:lnR w="12700" cap="flat" cmpd="sng" algn="ctr">
                      <a:solidFill>
                        <a:srgbClr val="BCBAB3"/>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BCBAB3"/>
                      </a:solidFill>
                      <a:prstDash val="solid"/>
                      <a:round/>
                      <a:headEnd type="none" w="med" len="med"/>
                      <a:tailEnd type="none" w="med" len="med"/>
                    </a:lnB>
                    <a:solidFill>
                      <a:srgbClr val="ECE9E0"/>
                    </a:solidFill>
                  </a:tcPr>
                </a:tc>
              </a:tr>
              <a:tr h="359271">
                <a:tc>
                  <a:txBody>
                    <a:bodyPr/>
                    <a:lstStyle/>
                    <a:p>
                      <a:pPr marL="0" indent="0">
                        <a:lnSpc>
                          <a:spcPts val="1820"/>
                        </a:lnSpc>
                        <a:buNone/>
                      </a:pPr>
                      <a:r>
                        <a:rPr lang="en-US" sz="1300" dirty="0">
                          <a:solidFill>
                            <a:srgbClr val="0F1B2D"/>
                          </a:solidFill>
                          <a:latin typeface="DM Sans" pitchFamily="34" charset="0"/>
                          <a:ea typeface="DM Sans" pitchFamily="34" charset="-122"/>
                          <a:cs typeface="DM Sans" pitchFamily="34" charset="-120"/>
                        </a:rPr>
                        <a:t>GET</a:t>
                      </a:r>
                      <a:endParaRPr lang="en-US" sz="1300" dirty="0">
                        <a:latin typeface="DM Sans" charset="0"/>
                        <a:ea typeface="DM Sans" charset="0"/>
                        <a:cs typeface="DM Sans"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BCBAB3"/>
                      </a:solidFill>
                      <a:prstDash val="solid"/>
                      <a:round/>
                      <a:headEnd type="none" w="med" len="med"/>
                      <a:tailEnd type="none" w="med" len="med"/>
                    </a:lnT>
                    <a:lnB w="12700" cap="flat" cmpd="sng" algn="ctr">
                      <a:solidFill>
                        <a:srgbClr val="C8C7C5"/>
                      </a:solidFill>
                      <a:prstDash val="solid"/>
                      <a:round/>
                      <a:headEnd type="none" w="med" len="med"/>
                      <a:tailEnd type="none" w="med" len="med"/>
                    </a:lnB>
                    <a:solidFill>
                      <a:srgbClr val="FBFAF7"/>
                    </a:solidFill>
                  </a:tcPr>
                </a:tc>
                <a:tc>
                  <a:txBody>
                    <a:bodyPr/>
                    <a:lstStyle/>
                    <a:p>
                      <a:pPr marL="0" indent="0">
                        <a:lnSpc>
                          <a:spcPts val="1820"/>
                        </a:lnSpc>
                        <a:buNone/>
                      </a:pPr>
                      <a:r>
                        <a:rPr lang="en-US" sz="1300" dirty="0">
                          <a:solidFill>
                            <a:srgbClr val="0F1B2D"/>
                          </a:solidFill>
                          <a:latin typeface="DM Sans" pitchFamily="34" charset="0"/>
                          <a:ea typeface="DM Sans" pitchFamily="34" charset="-122"/>
                          <a:cs typeface="DM Sans" pitchFamily="34" charset="-120"/>
                        </a:rPr>
                        <a:t>/api/projects</a:t>
                      </a:r>
                      <a:endParaRPr lang="en-US" sz="1300" dirty="0">
                        <a:latin typeface="DM Sans" charset="0"/>
                        <a:ea typeface="DM Sans" charset="0"/>
                        <a:cs typeface="DM Sans" charset="0"/>
                      </a:endParaRPr>
                    </a:p>
                  </a:txBody>
                  <a:tcPr marL="57785" marR="57785" marT="57785" marB="57785">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BCBAB3"/>
                      </a:solidFill>
                      <a:prstDash val="solid"/>
                      <a:round/>
                      <a:headEnd type="none" w="med" len="med"/>
                      <a:tailEnd type="none" w="med" len="med"/>
                    </a:lnT>
                    <a:lnB w="12700" cap="flat" cmpd="sng" algn="ctr">
                      <a:solidFill>
                        <a:srgbClr val="C8C7C5"/>
                      </a:solidFill>
                      <a:prstDash val="solid"/>
                      <a:round/>
                      <a:headEnd type="none" w="med" len="med"/>
                      <a:tailEnd type="none" w="med" len="med"/>
                    </a:lnB>
                    <a:solidFill>
                      <a:srgbClr val="FBFAF7"/>
                    </a:solidFill>
                  </a:tcPr>
                </a:tc>
                <a:tc>
                  <a:txBody>
                    <a:bodyPr/>
                    <a:lstStyle/>
                    <a:p>
                      <a:pPr marL="0" indent="0">
                        <a:lnSpc>
                          <a:spcPts val="1820"/>
                        </a:lnSpc>
                        <a:buNone/>
                      </a:pPr>
                      <a:r>
                        <a:rPr lang="en-US" sz="1300" dirty="0">
                          <a:solidFill>
                            <a:srgbClr val="0F1B2D"/>
                          </a:solidFill>
                          <a:latin typeface="DM Sans" pitchFamily="34" charset="0"/>
                          <a:ea typeface="DM Sans" pitchFamily="34" charset="-122"/>
                          <a:cs typeface="DM Sans" pitchFamily="34" charset="-120"/>
                        </a:rPr>
                        <a:t>List projects with client</a:t>
                      </a:r>
                      <a:endParaRPr lang="en-US" sz="1300" dirty="0">
                        <a:latin typeface="DM Sans" charset="0"/>
                        <a:ea typeface="DM Sans" charset="0"/>
                        <a:cs typeface="DM Sans" charset="0"/>
                      </a:endParaRPr>
                    </a:p>
                  </a:txBody>
                  <a:tcPr marL="57785" marR="57785" marT="57785" marB="57785">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BCBAB3"/>
                      </a:solidFill>
                      <a:prstDash val="solid"/>
                      <a:round/>
                      <a:headEnd type="none" w="med" len="med"/>
                      <a:tailEnd type="none" w="med" len="med"/>
                    </a:lnT>
                    <a:lnB w="12700" cap="flat" cmpd="sng" algn="ctr">
                      <a:solidFill>
                        <a:srgbClr val="C8C7C5"/>
                      </a:solidFill>
                      <a:prstDash val="solid"/>
                      <a:round/>
                      <a:headEnd type="none" w="med" len="med"/>
                      <a:tailEnd type="none" w="med" len="med"/>
                    </a:lnB>
                    <a:solidFill>
                      <a:srgbClr val="FBFAF7"/>
                    </a:solidFill>
                  </a:tcPr>
                </a:tc>
              </a:tr>
              <a:tr h="359271">
                <a:tc>
                  <a:txBody>
                    <a:bodyPr/>
                    <a:lstStyle/>
                    <a:p>
                      <a:pPr marL="0" indent="0">
                        <a:lnSpc>
                          <a:spcPts val="1820"/>
                        </a:lnSpc>
                        <a:buNone/>
                      </a:pPr>
                      <a:r>
                        <a:rPr lang="en-US" sz="1300" dirty="0">
                          <a:solidFill>
                            <a:srgbClr val="0F1B2D"/>
                          </a:solidFill>
                          <a:latin typeface="DM Sans" pitchFamily="34" charset="0"/>
                          <a:ea typeface="DM Sans" pitchFamily="34" charset="-122"/>
                          <a:cs typeface="DM Sans" pitchFamily="34" charset="-120"/>
                        </a:rPr>
                        <a:t>POST</a:t>
                      </a:r>
                      <a:endParaRPr lang="en-US" sz="1300" dirty="0">
                        <a:latin typeface="DM Sans" charset="0"/>
                        <a:ea typeface="DM Sans" charset="0"/>
                        <a:cs typeface="DM Sans"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BCBAB3"/>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BCBAB3"/>
                      </a:solidFill>
                      <a:prstDash val="solid"/>
                      <a:round/>
                      <a:headEnd type="none" w="med" len="med"/>
                      <a:tailEnd type="none" w="med" len="med"/>
                    </a:lnB>
                    <a:solidFill>
                      <a:srgbClr val="ECE9E0"/>
                    </a:solidFill>
                  </a:tcPr>
                </a:tc>
                <a:tc>
                  <a:txBody>
                    <a:bodyPr/>
                    <a:lstStyle/>
                    <a:p>
                      <a:pPr marL="0" indent="0">
                        <a:lnSpc>
                          <a:spcPts val="1820"/>
                        </a:lnSpc>
                        <a:buNone/>
                      </a:pPr>
                      <a:r>
                        <a:rPr lang="en-US" sz="1300" dirty="0">
                          <a:solidFill>
                            <a:srgbClr val="0F1B2D"/>
                          </a:solidFill>
                          <a:latin typeface="DM Sans" pitchFamily="34" charset="0"/>
                          <a:ea typeface="DM Sans" pitchFamily="34" charset="-122"/>
                          <a:cs typeface="DM Sans" pitchFamily="34" charset="-120"/>
                        </a:rPr>
                        <a:t>/api/projects</a:t>
                      </a:r>
                      <a:endParaRPr lang="en-US" sz="1300" dirty="0">
                        <a:latin typeface="DM Sans" charset="0"/>
                        <a:ea typeface="DM Sans" charset="0"/>
                        <a:cs typeface="DM Sans" charset="0"/>
                      </a:endParaRPr>
                    </a:p>
                  </a:txBody>
                  <a:tcPr marL="57785" marR="57785" marT="57785" marB="57785">
                    <a:lnL w="12700" cap="flat" cmpd="sng" algn="ctr">
                      <a:solidFill>
                        <a:srgbClr val="BCBAB3"/>
                      </a:solidFill>
                      <a:prstDash val="solid"/>
                      <a:round/>
                      <a:headEnd type="none" w="med" len="med"/>
                      <a:tailEnd type="none" w="med" len="med"/>
                    </a:lnL>
                    <a:lnR w="12700" cap="flat" cmpd="sng" algn="ctr">
                      <a:solidFill>
                        <a:srgbClr val="BCBAB3"/>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BCBAB3"/>
                      </a:solidFill>
                      <a:prstDash val="solid"/>
                      <a:round/>
                      <a:headEnd type="none" w="med" len="med"/>
                      <a:tailEnd type="none" w="med" len="med"/>
                    </a:lnB>
                    <a:solidFill>
                      <a:srgbClr val="ECE9E0"/>
                    </a:solidFill>
                  </a:tcPr>
                </a:tc>
                <a:tc>
                  <a:txBody>
                    <a:bodyPr/>
                    <a:lstStyle/>
                    <a:p>
                      <a:pPr marL="0" indent="0">
                        <a:lnSpc>
                          <a:spcPts val="1820"/>
                        </a:lnSpc>
                        <a:buNone/>
                      </a:pPr>
                      <a:r>
                        <a:rPr lang="en-US" sz="1300" dirty="0">
                          <a:solidFill>
                            <a:srgbClr val="0F1B2D"/>
                          </a:solidFill>
                          <a:latin typeface="DM Sans" pitchFamily="34" charset="0"/>
                          <a:ea typeface="DM Sans" pitchFamily="34" charset="-122"/>
                          <a:cs typeface="DM Sans" pitchFamily="34" charset="-120"/>
                        </a:rPr>
                        <a:t>Create a project</a:t>
                      </a:r>
                      <a:endParaRPr lang="en-US" sz="1300" dirty="0">
                        <a:latin typeface="DM Sans" charset="0"/>
                        <a:ea typeface="DM Sans" charset="0"/>
                        <a:cs typeface="DM Sans" charset="0"/>
                      </a:endParaRPr>
                    </a:p>
                  </a:txBody>
                  <a:tcPr marL="57785" marR="57785" marT="57785" marB="57785">
                    <a:lnL w="12700" cap="flat" cmpd="sng" algn="ctr">
                      <a:solidFill>
                        <a:srgbClr val="BCBAB3"/>
                      </a:solidFill>
                      <a:prstDash val="solid"/>
                      <a:round/>
                      <a:headEnd type="none" w="med" len="med"/>
                      <a:tailEnd type="none" w="med" len="med"/>
                    </a:lnL>
                    <a:lnR w="12700" cap="flat" cmpd="sng" algn="ctr">
                      <a:solidFill>
                        <a:srgbClr val="BCBAB3"/>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BCBAB3"/>
                      </a:solidFill>
                      <a:prstDash val="solid"/>
                      <a:round/>
                      <a:headEnd type="none" w="med" len="med"/>
                      <a:tailEnd type="none" w="med" len="med"/>
                    </a:lnB>
                    <a:solidFill>
                      <a:srgbClr val="ECE9E0"/>
                    </a:solidFill>
                  </a:tcPr>
                </a:tc>
              </a:tr>
              <a:tr h="359271">
                <a:tc>
                  <a:txBody>
                    <a:bodyPr/>
                    <a:lstStyle/>
                    <a:p>
                      <a:pPr marL="0" indent="0">
                        <a:lnSpc>
                          <a:spcPts val="1820"/>
                        </a:lnSpc>
                        <a:buNone/>
                      </a:pPr>
                      <a:r>
                        <a:rPr lang="en-US" sz="1300" dirty="0">
                          <a:solidFill>
                            <a:srgbClr val="0F1B2D"/>
                          </a:solidFill>
                          <a:latin typeface="DM Sans" pitchFamily="34" charset="0"/>
                          <a:ea typeface="DM Sans" pitchFamily="34" charset="-122"/>
                          <a:cs typeface="DM Sans" pitchFamily="34" charset="-120"/>
                        </a:rPr>
                        <a:t>PUT, DELETE</a:t>
                      </a:r>
                      <a:endParaRPr lang="en-US" sz="1300" dirty="0">
                        <a:latin typeface="DM Sans" charset="0"/>
                        <a:ea typeface="DM Sans" charset="0"/>
                        <a:cs typeface="DM Sans"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BCBAB3"/>
                      </a:solidFill>
                      <a:prstDash val="solid"/>
                      <a:round/>
                      <a:headEnd type="none" w="med" len="med"/>
                      <a:tailEnd type="none" w="med" len="med"/>
                    </a:lnT>
                    <a:lnB w="12700" cap="flat" cmpd="sng" algn="ctr">
                      <a:solidFill>
                        <a:srgbClr val="C8C7C5"/>
                      </a:solidFill>
                      <a:prstDash val="solid"/>
                      <a:round/>
                      <a:headEnd type="none" w="med" len="med"/>
                      <a:tailEnd type="none" w="med" len="med"/>
                    </a:lnB>
                    <a:solidFill>
                      <a:srgbClr val="FBFAF7"/>
                    </a:solidFill>
                  </a:tcPr>
                </a:tc>
                <a:tc>
                  <a:txBody>
                    <a:bodyPr/>
                    <a:lstStyle/>
                    <a:p>
                      <a:pPr marL="0" indent="0">
                        <a:lnSpc>
                          <a:spcPts val="1820"/>
                        </a:lnSpc>
                        <a:buNone/>
                      </a:pPr>
                      <a:r>
                        <a:rPr lang="en-US" sz="1300" dirty="0">
                          <a:solidFill>
                            <a:srgbClr val="0F1B2D"/>
                          </a:solidFill>
                          <a:latin typeface="DM Sans" pitchFamily="34" charset="0"/>
                          <a:ea typeface="DM Sans" pitchFamily="34" charset="-122"/>
                          <a:cs typeface="DM Sans" pitchFamily="34" charset="-120"/>
                        </a:rPr>
                        <a:t>/api/projects/:id</a:t>
                      </a:r>
                      <a:endParaRPr lang="en-US" sz="1300" dirty="0">
                        <a:latin typeface="DM Sans" charset="0"/>
                        <a:ea typeface="DM Sans" charset="0"/>
                        <a:cs typeface="DM Sans" charset="0"/>
                      </a:endParaRPr>
                    </a:p>
                  </a:txBody>
                  <a:tcPr marL="57785" marR="57785" marT="57785" marB="57785">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BCBAB3"/>
                      </a:solidFill>
                      <a:prstDash val="solid"/>
                      <a:round/>
                      <a:headEnd type="none" w="med" len="med"/>
                      <a:tailEnd type="none" w="med" len="med"/>
                    </a:lnT>
                    <a:lnB w="12700" cap="flat" cmpd="sng" algn="ctr">
                      <a:solidFill>
                        <a:srgbClr val="C8C7C5"/>
                      </a:solidFill>
                      <a:prstDash val="solid"/>
                      <a:round/>
                      <a:headEnd type="none" w="med" len="med"/>
                      <a:tailEnd type="none" w="med" len="med"/>
                    </a:lnB>
                    <a:solidFill>
                      <a:srgbClr val="FBFAF7"/>
                    </a:solidFill>
                  </a:tcPr>
                </a:tc>
                <a:tc>
                  <a:txBody>
                    <a:bodyPr/>
                    <a:lstStyle/>
                    <a:p>
                      <a:pPr marL="0" indent="0">
                        <a:lnSpc>
                          <a:spcPts val="1820"/>
                        </a:lnSpc>
                        <a:buNone/>
                      </a:pPr>
                      <a:r>
                        <a:rPr lang="en-US" sz="1300" dirty="0">
                          <a:solidFill>
                            <a:srgbClr val="0F1B2D"/>
                          </a:solidFill>
                          <a:latin typeface="DM Sans" pitchFamily="34" charset="0"/>
                          <a:ea typeface="DM Sans" pitchFamily="34" charset="-122"/>
                          <a:cs typeface="DM Sans" pitchFamily="34" charset="-120"/>
                        </a:rPr>
                        <a:t>Update or delete a project</a:t>
                      </a:r>
                      <a:endParaRPr lang="en-US" sz="1300" dirty="0">
                        <a:latin typeface="DM Sans" charset="0"/>
                        <a:ea typeface="DM Sans" charset="0"/>
                        <a:cs typeface="DM Sans" charset="0"/>
                      </a:endParaRPr>
                    </a:p>
                  </a:txBody>
                  <a:tcPr marL="57785" marR="57785" marT="57785" marB="57785">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BCBAB3"/>
                      </a:solidFill>
                      <a:prstDash val="solid"/>
                      <a:round/>
                      <a:headEnd type="none" w="med" len="med"/>
                      <a:tailEnd type="none" w="med" len="med"/>
                    </a:lnT>
                    <a:lnB w="12700" cap="flat" cmpd="sng" algn="ctr">
                      <a:solidFill>
                        <a:srgbClr val="C8C7C5"/>
                      </a:solidFill>
                      <a:prstDash val="solid"/>
                      <a:round/>
                      <a:headEnd type="none" w="med" len="med"/>
                      <a:tailEnd type="none" w="med" len="med"/>
                    </a:lnB>
                    <a:solidFill>
                      <a:srgbClr val="FBFAF7"/>
                    </a:solidFill>
                  </a:tcPr>
                </a:tc>
              </a:tr>
              <a:tr h="359271">
                <a:tc>
                  <a:txBody>
                    <a:bodyPr/>
                    <a:lstStyle/>
                    <a:p>
                      <a:pPr marL="0" indent="0">
                        <a:lnSpc>
                          <a:spcPts val="1820"/>
                        </a:lnSpc>
                        <a:buNone/>
                      </a:pPr>
                      <a:r>
                        <a:rPr lang="en-US" sz="1300" dirty="0">
                          <a:solidFill>
                            <a:srgbClr val="0F1B2D"/>
                          </a:solidFill>
                          <a:latin typeface="DM Sans" pitchFamily="34" charset="0"/>
                          <a:ea typeface="DM Sans" pitchFamily="34" charset="-122"/>
                          <a:cs typeface="DM Sans" pitchFamily="34" charset="-120"/>
                        </a:rPr>
                        <a:t>GET</a:t>
                      </a:r>
                      <a:endParaRPr lang="en-US" sz="1300" dirty="0">
                        <a:latin typeface="DM Sans" charset="0"/>
                        <a:ea typeface="DM Sans" charset="0"/>
                        <a:cs typeface="DM Sans"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BCBAB3"/>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BCBAB3"/>
                      </a:solidFill>
                      <a:prstDash val="solid"/>
                      <a:round/>
                      <a:headEnd type="none" w="med" len="med"/>
                      <a:tailEnd type="none" w="med" len="med"/>
                    </a:lnB>
                    <a:solidFill>
                      <a:srgbClr val="ECE9E0"/>
                    </a:solidFill>
                  </a:tcPr>
                </a:tc>
                <a:tc>
                  <a:txBody>
                    <a:bodyPr/>
                    <a:lstStyle/>
                    <a:p>
                      <a:pPr marL="0" indent="0">
                        <a:lnSpc>
                          <a:spcPts val="1820"/>
                        </a:lnSpc>
                        <a:buNone/>
                      </a:pPr>
                      <a:r>
                        <a:rPr lang="en-US" sz="1300" dirty="0">
                          <a:solidFill>
                            <a:srgbClr val="0F1B2D"/>
                          </a:solidFill>
                          <a:latin typeface="DM Sans" pitchFamily="34" charset="0"/>
                          <a:ea typeface="DM Sans" pitchFamily="34" charset="-122"/>
                          <a:cs typeface="DM Sans" pitchFamily="34" charset="-120"/>
                        </a:rPr>
                        <a:t>/api/dashboard</a:t>
                      </a:r>
                      <a:endParaRPr lang="en-US" sz="1300" dirty="0">
                        <a:latin typeface="DM Sans" charset="0"/>
                        <a:ea typeface="DM Sans" charset="0"/>
                        <a:cs typeface="DM Sans" charset="0"/>
                      </a:endParaRPr>
                    </a:p>
                  </a:txBody>
                  <a:tcPr marL="57785" marR="57785" marT="57785" marB="57785">
                    <a:lnL w="12700" cap="flat" cmpd="sng" algn="ctr">
                      <a:solidFill>
                        <a:srgbClr val="BCBAB3"/>
                      </a:solidFill>
                      <a:prstDash val="solid"/>
                      <a:round/>
                      <a:headEnd type="none" w="med" len="med"/>
                      <a:tailEnd type="none" w="med" len="med"/>
                    </a:lnL>
                    <a:lnR w="12700" cap="flat" cmpd="sng" algn="ctr">
                      <a:solidFill>
                        <a:srgbClr val="BCBAB3"/>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BCBAB3"/>
                      </a:solidFill>
                      <a:prstDash val="solid"/>
                      <a:round/>
                      <a:headEnd type="none" w="med" len="med"/>
                      <a:tailEnd type="none" w="med" len="med"/>
                    </a:lnB>
                    <a:solidFill>
                      <a:srgbClr val="ECE9E0"/>
                    </a:solidFill>
                  </a:tcPr>
                </a:tc>
                <a:tc>
                  <a:txBody>
                    <a:bodyPr/>
                    <a:lstStyle/>
                    <a:p>
                      <a:pPr marL="0" indent="0">
                        <a:lnSpc>
                          <a:spcPts val="1820"/>
                        </a:lnSpc>
                        <a:buNone/>
                      </a:pPr>
                      <a:r>
                        <a:rPr lang="en-US" sz="1300" dirty="0">
                          <a:solidFill>
                            <a:srgbClr val="0F1B2D"/>
                          </a:solidFill>
                          <a:latin typeface="DM Sans" pitchFamily="34" charset="0"/>
                          <a:ea typeface="DM Sans" pitchFamily="34" charset="-122"/>
                          <a:cs typeface="DM Sans" pitchFamily="34" charset="-120"/>
                        </a:rPr>
                        <a:t>Summary for the dashboard</a:t>
                      </a:r>
                      <a:endParaRPr lang="en-US" sz="1300" dirty="0">
                        <a:latin typeface="DM Sans" charset="0"/>
                        <a:ea typeface="DM Sans" charset="0"/>
                        <a:cs typeface="DM Sans" charset="0"/>
                      </a:endParaRPr>
                    </a:p>
                  </a:txBody>
                  <a:tcPr marL="57785" marR="57785" marT="57785" marB="57785">
                    <a:lnL w="12700" cap="flat" cmpd="sng" algn="ctr">
                      <a:solidFill>
                        <a:srgbClr val="BCBAB3"/>
                      </a:solidFill>
                      <a:prstDash val="solid"/>
                      <a:round/>
                      <a:headEnd type="none" w="med" len="med"/>
                      <a:tailEnd type="none" w="med" len="med"/>
                    </a:lnL>
                    <a:lnR w="12700" cap="flat" cmpd="sng" algn="ctr">
                      <a:solidFill>
                        <a:srgbClr val="BCBAB3"/>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BCBAB3"/>
                      </a:solidFill>
                      <a:prstDash val="solid"/>
                      <a:round/>
                      <a:headEnd type="none" w="med" len="med"/>
                      <a:tailEnd type="none" w="med" len="med"/>
                    </a:lnB>
                    <a:solidFill>
                      <a:srgbClr val="ECE9E0"/>
                    </a:solidFill>
                  </a:tcPr>
                </a:tc>
              </a:tr>
            </a:tbl>
          </a:graphicData>
        </a:graphic>
      </p:graphicFrame>
      <p:sp>
        <p:nvSpPr>
          <p:cNvPr id="5" name="Text 2"/>
          <p:cNvSpPr/>
          <p:nvPr/>
        </p:nvSpPr>
        <p:spPr>
          <a:xfrm>
            <a:off x="812800" y="5295801"/>
            <a:ext cx="10883392"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F4A5A"/>
                </a:solidFill>
                <a:latin typeface="DM Sans" pitchFamily="34" charset="0"/>
                <a:ea typeface="DM Sans" pitchFamily="34" charset="-122"/>
                <a:cs typeface="DM Sans" pitchFamily="34" charset="-120"/>
              </a:rPr>
              <a:t>Tasks and payments follow the same pattern under /api/tasks and /api/payments.</a:t>
            </a:r>
            <a:endParaRPr lang="en-US" sz="1400" dirty="0"/>
          </a:p>
        </p:txBody>
      </p:sp>
      <p:sp>
        <p:nvSpPr>
          <p:cNvPr id="6" name="Text 3"/>
          <p:cNvSpPr/>
          <p:nvPr/>
        </p:nvSpPr>
        <p:spPr>
          <a:xfrm>
            <a:off x="812800" y="6238280"/>
            <a:ext cx="65405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472"/>
                </a:solidFill>
                <a:latin typeface="DM Sans" pitchFamily="34" charset="0"/>
                <a:ea typeface="DM Sans" pitchFamily="34" charset="-122"/>
                <a:cs typeface="DM Sans" pitchFamily="34" charset="-120"/>
              </a:rPr>
              <a:t>Freelancer Project Management · MERN Stack</a:t>
            </a:r>
            <a:endParaRPr lang="en-US" sz="1200" dirty="0"/>
          </a:p>
        </p:txBody>
      </p:sp>
      <p:sp>
        <p:nvSpPr>
          <p:cNvPr id="7" name="Text 4"/>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472"/>
                </a:solidFill>
                <a:latin typeface="DM Sans" pitchFamily="34" charset="0"/>
                <a:ea typeface="DM Sans" pitchFamily="34" charset="-122"/>
                <a:cs typeface="DM Sans" pitchFamily="34" charset="-120"/>
              </a:rPr>
              <a:t>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2E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kern="0" spc="150" dirty="0">
                <a:solidFill>
                  <a:srgbClr val="0F766E"/>
                </a:solidFill>
                <a:latin typeface="DM Sans" pitchFamily="34" charset="0"/>
                <a:ea typeface="DM Sans" pitchFamily="34" charset="-122"/>
                <a:cs typeface="DM Sans" pitchFamily="34" charset="-120"/>
              </a:rPr>
              <a:t>REACT FRONTEND AND DASHBOARD</a:t>
            </a:r>
            <a:endParaRPr lang="en-US" sz="1300" dirty="0"/>
          </a:p>
        </p:txBody>
      </p:sp>
      <p:sp>
        <p:nvSpPr>
          <p:cNvPr id="3" name="Text 1"/>
          <p:cNvSpPr>
            <a:spLocks noGrp="1"/>
          </p:cNvSpPr>
          <p:nvPr>
            <p:ph type="title"/>
          </p:nvPr>
        </p:nvSpPr>
        <p:spPr>
          <a:xfrm>
            <a:off x="812800" y="114548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0F1B2D"/>
                </a:solidFill>
                <a:latin typeface="DM Sans" pitchFamily="34" charset="0"/>
                <a:ea typeface="DM Sans" pitchFamily="34" charset="-122"/>
                <a:cs typeface="DM Sans" pitchFamily="34" charset="-120"/>
              </a:rPr>
              <a:t>Project information at a glance</a:t>
            </a:r>
            <a:endParaRPr lang="en-US" sz="3200" dirty="0"/>
          </a:p>
        </p:txBody>
      </p:sp>
      <p:sp>
        <p:nvSpPr>
          <p:cNvPr id="4" name="Shape 2"/>
          <p:cNvSpPr/>
          <p:nvPr/>
        </p:nvSpPr>
        <p:spPr>
          <a:xfrm>
            <a:off x="815975" y="1849636"/>
            <a:ext cx="2520950" cy="1580952"/>
          </a:xfrm>
          <a:prstGeom prst="roundRect">
            <a:avLst>
              <a:gd name="adj" fmla="val 7832"/>
            </a:avLst>
          </a:prstGeom>
          <a:solidFill>
            <a:srgbClr val="FBFAF7"/>
          </a:solidFill>
          <a:ln w="6350">
            <a:solidFill>
              <a:srgbClr val="DDD9CE"/>
            </a:solidFill>
            <a:prstDash val="solid"/>
          </a:ln>
        </p:spPr>
      </p:sp>
      <p:pic>
        <p:nvPicPr>
          <p:cNvPr id="5" name="Image 0" descr="Activity"/>
          <p:cNvPicPr>
            <a:picLocks noChangeAspect="1"/>
          </p:cNvPicPr>
          <p:nvPr/>
        </p:nvPicPr>
        <p:blipFill>
          <a:blip r:embed="rId3"/>
          <a:srcRect/>
          <a:stretch/>
        </p:blipFill>
        <p:spPr>
          <a:xfrm>
            <a:off x="1022350" y="2056011"/>
            <a:ext cx="304800" cy="304800"/>
          </a:xfrm>
          <a:prstGeom prst="rect">
            <a:avLst/>
          </a:prstGeom>
        </p:spPr>
      </p:pic>
      <p:sp>
        <p:nvSpPr>
          <p:cNvPr id="6" name="Text 3"/>
          <p:cNvSpPr/>
          <p:nvPr/>
        </p:nvSpPr>
        <p:spPr>
          <a:xfrm>
            <a:off x="1022350" y="2411611"/>
            <a:ext cx="2171446"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F1B2D"/>
                </a:solidFill>
                <a:latin typeface="DM Sans" pitchFamily="34" charset="0"/>
                <a:ea typeface="DM Sans" pitchFamily="34" charset="-122"/>
                <a:cs typeface="DM Sans" pitchFamily="34" charset="-120"/>
              </a:rPr>
              <a:t>Active projects</a:t>
            </a:r>
            <a:endParaRPr lang="en-US" sz="1800" dirty="0"/>
          </a:p>
        </p:txBody>
      </p:sp>
      <p:sp>
        <p:nvSpPr>
          <p:cNvPr id="7" name="Text 4"/>
          <p:cNvSpPr/>
          <p:nvPr/>
        </p:nvSpPr>
        <p:spPr>
          <a:xfrm>
            <a:off x="1022350" y="2736652"/>
            <a:ext cx="217144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472"/>
                </a:solidFill>
                <a:latin typeface="DM Sans" pitchFamily="34" charset="0"/>
                <a:ea typeface="DM Sans" pitchFamily="34" charset="-122"/>
                <a:cs typeface="DM Sans" pitchFamily="34" charset="-120"/>
              </a:rPr>
              <a:t>Live count</a:t>
            </a:r>
            <a:endParaRPr lang="en-US" sz="1200" dirty="0"/>
          </a:p>
        </p:txBody>
      </p:sp>
      <p:sp>
        <p:nvSpPr>
          <p:cNvPr id="8" name="Shape 5"/>
          <p:cNvSpPr/>
          <p:nvPr/>
        </p:nvSpPr>
        <p:spPr>
          <a:xfrm>
            <a:off x="3495675" y="1849636"/>
            <a:ext cx="2520950" cy="1580952"/>
          </a:xfrm>
          <a:prstGeom prst="roundRect">
            <a:avLst>
              <a:gd name="adj" fmla="val 7832"/>
            </a:avLst>
          </a:prstGeom>
          <a:solidFill>
            <a:srgbClr val="FBFAF7"/>
          </a:solidFill>
          <a:ln w="6350">
            <a:solidFill>
              <a:srgbClr val="DDD9CE"/>
            </a:solidFill>
            <a:prstDash val="solid"/>
          </a:ln>
        </p:spPr>
      </p:sp>
      <p:pic>
        <p:nvPicPr>
          <p:cNvPr id="9" name="Image 1" descr="CheckCircle"/>
          <p:cNvPicPr>
            <a:picLocks noChangeAspect="1"/>
          </p:cNvPicPr>
          <p:nvPr/>
        </p:nvPicPr>
        <p:blipFill>
          <a:blip r:embed="rId4"/>
          <a:srcRect/>
          <a:stretch/>
        </p:blipFill>
        <p:spPr>
          <a:xfrm>
            <a:off x="3702050" y="2056011"/>
            <a:ext cx="304800" cy="304800"/>
          </a:xfrm>
          <a:prstGeom prst="rect">
            <a:avLst/>
          </a:prstGeom>
        </p:spPr>
      </p:pic>
      <p:sp>
        <p:nvSpPr>
          <p:cNvPr id="10" name="Text 6"/>
          <p:cNvSpPr/>
          <p:nvPr/>
        </p:nvSpPr>
        <p:spPr>
          <a:xfrm>
            <a:off x="3702050" y="2411611"/>
            <a:ext cx="2171446"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F1B2D"/>
                </a:solidFill>
                <a:latin typeface="DM Sans" pitchFamily="34" charset="0"/>
                <a:ea typeface="DM Sans" pitchFamily="34" charset="-122"/>
                <a:cs typeface="DM Sans" pitchFamily="34" charset="-120"/>
              </a:rPr>
              <a:t>Pending tasks</a:t>
            </a:r>
            <a:endParaRPr lang="en-US" sz="1800" dirty="0"/>
          </a:p>
        </p:txBody>
      </p:sp>
      <p:sp>
        <p:nvSpPr>
          <p:cNvPr id="11" name="Text 7"/>
          <p:cNvSpPr/>
          <p:nvPr/>
        </p:nvSpPr>
        <p:spPr>
          <a:xfrm>
            <a:off x="3702050" y="2736652"/>
            <a:ext cx="217144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472"/>
                </a:solidFill>
                <a:latin typeface="DM Sans" pitchFamily="34" charset="0"/>
                <a:ea typeface="DM Sans" pitchFamily="34" charset="-122"/>
                <a:cs typeface="DM Sans" pitchFamily="34" charset="-120"/>
              </a:rPr>
              <a:t>Open work items</a:t>
            </a:r>
            <a:endParaRPr lang="en-US" sz="1200" dirty="0"/>
          </a:p>
        </p:txBody>
      </p:sp>
      <p:sp>
        <p:nvSpPr>
          <p:cNvPr id="12" name="Shape 8"/>
          <p:cNvSpPr/>
          <p:nvPr/>
        </p:nvSpPr>
        <p:spPr>
          <a:xfrm>
            <a:off x="6175375" y="1849636"/>
            <a:ext cx="2520950" cy="1580952"/>
          </a:xfrm>
          <a:prstGeom prst="roundRect">
            <a:avLst>
              <a:gd name="adj" fmla="val 7832"/>
            </a:avLst>
          </a:prstGeom>
          <a:solidFill>
            <a:srgbClr val="FBFAF7"/>
          </a:solidFill>
          <a:ln w="6350">
            <a:solidFill>
              <a:srgbClr val="DDD9CE"/>
            </a:solidFill>
            <a:prstDash val="solid"/>
          </a:ln>
        </p:spPr>
      </p:sp>
      <p:pic>
        <p:nvPicPr>
          <p:cNvPr id="13" name="Image 2" descr="Clock"/>
          <p:cNvPicPr>
            <a:picLocks noChangeAspect="1"/>
          </p:cNvPicPr>
          <p:nvPr/>
        </p:nvPicPr>
        <p:blipFill>
          <a:blip r:embed="rId5"/>
          <a:srcRect/>
          <a:stretch/>
        </p:blipFill>
        <p:spPr>
          <a:xfrm>
            <a:off x="6381750" y="2056011"/>
            <a:ext cx="304800" cy="304800"/>
          </a:xfrm>
          <a:prstGeom prst="rect">
            <a:avLst/>
          </a:prstGeom>
        </p:spPr>
      </p:pic>
      <p:sp>
        <p:nvSpPr>
          <p:cNvPr id="14" name="Text 9"/>
          <p:cNvSpPr/>
          <p:nvPr/>
        </p:nvSpPr>
        <p:spPr>
          <a:xfrm>
            <a:off x="6381750" y="2411611"/>
            <a:ext cx="2171446" cy="57388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F1B2D"/>
                </a:solidFill>
                <a:latin typeface="DM Sans" pitchFamily="34" charset="0"/>
                <a:ea typeface="DM Sans" pitchFamily="34" charset="-122"/>
                <a:cs typeface="DM Sans" pitchFamily="34" charset="-120"/>
              </a:rPr>
              <a:t>Upcoming deadlines</a:t>
            </a:r>
            <a:endParaRPr lang="en-US" sz="1800" dirty="0"/>
          </a:p>
        </p:txBody>
      </p:sp>
      <p:sp>
        <p:nvSpPr>
          <p:cNvPr id="15" name="Text 10"/>
          <p:cNvSpPr/>
          <p:nvPr/>
        </p:nvSpPr>
        <p:spPr>
          <a:xfrm>
            <a:off x="6381750" y="3010892"/>
            <a:ext cx="217144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472"/>
                </a:solidFill>
                <a:latin typeface="DM Sans" pitchFamily="34" charset="0"/>
                <a:ea typeface="DM Sans" pitchFamily="34" charset="-122"/>
                <a:cs typeface="DM Sans" pitchFamily="34" charset="-120"/>
              </a:rPr>
              <a:t>Nearest first</a:t>
            </a:r>
            <a:endParaRPr lang="en-US" sz="1200" dirty="0"/>
          </a:p>
        </p:txBody>
      </p:sp>
      <p:sp>
        <p:nvSpPr>
          <p:cNvPr id="16" name="Shape 11"/>
          <p:cNvSpPr/>
          <p:nvPr/>
        </p:nvSpPr>
        <p:spPr>
          <a:xfrm>
            <a:off x="8855075" y="1849636"/>
            <a:ext cx="2520950" cy="1580952"/>
          </a:xfrm>
          <a:prstGeom prst="roundRect">
            <a:avLst>
              <a:gd name="adj" fmla="val 7832"/>
            </a:avLst>
          </a:prstGeom>
          <a:solidFill>
            <a:srgbClr val="FBFAF7"/>
          </a:solidFill>
          <a:ln w="6350">
            <a:solidFill>
              <a:srgbClr val="DDD9CE"/>
            </a:solidFill>
            <a:prstDash val="solid"/>
          </a:ln>
        </p:spPr>
      </p:sp>
      <p:pic>
        <p:nvPicPr>
          <p:cNvPr id="17" name="Image 3" descr="Chart"/>
          <p:cNvPicPr>
            <a:picLocks noChangeAspect="1"/>
          </p:cNvPicPr>
          <p:nvPr/>
        </p:nvPicPr>
        <p:blipFill>
          <a:blip r:embed="rId6"/>
          <a:srcRect/>
          <a:stretch/>
        </p:blipFill>
        <p:spPr>
          <a:xfrm>
            <a:off x="9061450" y="2056011"/>
            <a:ext cx="304800" cy="304800"/>
          </a:xfrm>
          <a:prstGeom prst="rect">
            <a:avLst/>
          </a:prstGeom>
        </p:spPr>
      </p:pic>
      <p:sp>
        <p:nvSpPr>
          <p:cNvPr id="18" name="Text 12"/>
          <p:cNvSpPr/>
          <p:nvPr/>
        </p:nvSpPr>
        <p:spPr>
          <a:xfrm>
            <a:off x="9061450" y="2411611"/>
            <a:ext cx="2311400"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F1B2D"/>
                </a:solidFill>
                <a:latin typeface="DM Sans" pitchFamily="34" charset="0"/>
                <a:ea typeface="DM Sans" pitchFamily="34" charset="-122"/>
                <a:cs typeface="DM Sans" pitchFamily="34" charset="-120"/>
              </a:rPr>
              <a:t>Payments pending</a:t>
            </a:r>
            <a:endParaRPr lang="en-US" sz="1800" dirty="0"/>
          </a:p>
        </p:txBody>
      </p:sp>
      <p:sp>
        <p:nvSpPr>
          <p:cNvPr id="19" name="Text 13"/>
          <p:cNvSpPr/>
          <p:nvPr/>
        </p:nvSpPr>
        <p:spPr>
          <a:xfrm>
            <a:off x="9061450" y="2736652"/>
            <a:ext cx="217144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472"/>
                </a:solidFill>
                <a:latin typeface="DM Sans" pitchFamily="34" charset="0"/>
                <a:ea typeface="DM Sans" pitchFamily="34" charset="-122"/>
                <a:cs typeface="DM Sans" pitchFamily="34" charset="-120"/>
              </a:rPr>
              <a:t>Paid vs pending</a:t>
            </a:r>
            <a:endParaRPr lang="en-US" sz="1200" dirty="0"/>
          </a:p>
        </p:txBody>
      </p:sp>
      <p:sp>
        <p:nvSpPr>
          <p:cNvPr id="20" name="Shape 14"/>
          <p:cNvSpPr/>
          <p:nvPr/>
        </p:nvSpPr>
        <p:spPr>
          <a:xfrm>
            <a:off x="812800" y="3687762"/>
            <a:ext cx="5207000" cy="1056481"/>
          </a:xfrm>
          <a:prstGeom prst="roundRect">
            <a:avLst>
              <a:gd name="adj" fmla="val 12021"/>
            </a:avLst>
          </a:prstGeom>
          <a:solidFill>
            <a:srgbClr val="0F1B2D"/>
          </a:solidFill>
          <a:ln/>
        </p:spPr>
      </p:sp>
      <p:sp>
        <p:nvSpPr>
          <p:cNvPr id="21" name="Text 15"/>
          <p:cNvSpPr/>
          <p:nvPr/>
        </p:nvSpPr>
        <p:spPr>
          <a:xfrm>
            <a:off x="1041400" y="3916362"/>
            <a:ext cx="4892294"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2DD4BF"/>
                </a:solidFill>
                <a:latin typeface="DM Sans" pitchFamily="34" charset="0"/>
                <a:ea typeface="DM Sans" pitchFamily="34" charset="-122"/>
                <a:cs typeface="DM Sans" pitchFamily="34" charset="-120"/>
              </a:rPr>
              <a:t>Pages</a:t>
            </a:r>
            <a:endParaRPr lang="en-US" sz="1800" dirty="0"/>
          </a:p>
        </p:txBody>
      </p:sp>
      <p:sp>
        <p:nvSpPr>
          <p:cNvPr id="22" name="Text 16"/>
          <p:cNvSpPr/>
          <p:nvPr/>
        </p:nvSpPr>
        <p:spPr>
          <a:xfrm>
            <a:off x="1041400" y="4266803"/>
            <a:ext cx="4892294"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EAF0F8"/>
                </a:solidFill>
                <a:latin typeface="DM Sans" pitchFamily="34" charset="0"/>
                <a:ea typeface="DM Sans" pitchFamily="34" charset="-122"/>
                <a:cs typeface="DM Sans" pitchFamily="34" charset="-120"/>
              </a:rPr>
              <a:t>Login, Dashboard, Clients, Projects, Tasks and Payments.</a:t>
            </a:r>
            <a:endParaRPr lang="en-US" sz="1400" dirty="0"/>
          </a:p>
        </p:txBody>
      </p:sp>
      <p:sp>
        <p:nvSpPr>
          <p:cNvPr id="23" name="Shape 17"/>
          <p:cNvSpPr/>
          <p:nvPr/>
        </p:nvSpPr>
        <p:spPr>
          <a:xfrm>
            <a:off x="6172200" y="3687762"/>
            <a:ext cx="5207000" cy="1056481"/>
          </a:xfrm>
          <a:prstGeom prst="roundRect">
            <a:avLst>
              <a:gd name="adj" fmla="val 12021"/>
            </a:avLst>
          </a:prstGeom>
          <a:solidFill>
            <a:srgbClr val="0F1B2D"/>
          </a:solidFill>
          <a:ln/>
        </p:spPr>
      </p:sp>
      <p:sp>
        <p:nvSpPr>
          <p:cNvPr id="24" name="Text 18"/>
          <p:cNvSpPr/>
          <p:nvPr/>
        </p:nvSpPr>
        <p:spPr>
          <a:xfrm>
            <a:off x="6400800" y="3916362"/>
            <a:ext cx="4892294"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2DD4BF"/>
                </a:solidFill>
                <a:latin typeface="DM Sans" pitchFamily="34" charset="0"/>
                <a:ea typeface="DM Sans" pitchFamily="34" charset="-122"/>
                <a:cs typeface="DM Sans" pitchFamily="34" charset="-120"/>
              </a:rPr>
              <a:t>Built with</a:t>
            </a:r>
            <a:endParaRPr lang="en-US" sz="1800" dirty="0"/>
          </a:p>
        </p:txBody>
      </p:sp>
      <p:sp>
        <p:nvSpPr>
          <p:cNvPr id="25" name="Text 19"/>
          <p:cNvSpPr/>
          <p:nvPr/>
        </p:nvSpPr>
        <p:spPr>
          <a:xfrm>
            <a:off x="6400800" y="4266803"/>
            <a:ext cx="4892294"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EAF0F8"/>
                </a:solidFill>
                <a:latin typeface="DM Sans" pitchFamily="34" charset="0"/>
                <a:ea typeface="DM Sans" pitchFamily="34" charset="-122"/>
                <a:cs typeface="DM Sans" pitchFamily="34" charset="-120"/>
              </a:rPr>
              <a:t>React Router, Context API, Axios and protected routes.</a:t>
            </a:r>
            <a:endParaRPr lang="en-US" sz="1400" dirty="0"/>
          </a:p>
        </p:txBody>
      </p:sp>
      <p:sp>
        <p:nvSpPr>
          <p:cNvPr id="26" name="Text 20"/>
          <p:cNvSpPr/>
          <p:nvPr/>
        </p:nvSpPr>
        <p:spPr>
          <a:xfrm>
            <a:off x="812800" y="6238280"/>
            <a:ext cx="65405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472"/>
                </a:solidFill>
                <a:latin typeface="DM Sans" pitchFamily="34" charset="0"/>
                <a:ea typeface="DM Sans" pitchFamily="34" charset="-122"/>
                <a:cs typeface="DM Sans" pitchFamily="34" charset="-120"/>
              </a:rPr>
              <a:t>Freelancer Project Management · MERN Stack</a:t>
            </a:r>
            <a:endParaRPr lang="en-US" sz="1200" dirty="0"/>
          </a:p>
        </p:txBody>
      </p:sp>
      <p:sp>
        <p:nvSpPr>
          <p:cNvPr id="27" name="Text 21"/>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472"/>
                </a:solidFill>
                <a:latin typeface="DM Sans" pitchFamily="34" charset="0"/>
                <a:ea typeface="DM Sans" pitchFamily="34" charset="-122"/>
                <a:cs typeface="DM Sans" pitchFamily="34" charset="-120"/>
              </a:rPr>
              <a:t>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2E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kern="0" spc="150" dirty="0">
                <a:solidFill>
                  <a:srgbClr val="0F766E"/>
                </a:solidFill>
                <a:latin typeface="DM Sans" pitchFamily="34" charset="0"/>
                <a:ea typeface="DM Sans" pitchFamily="34" charset="-122"/>
                <a:cs typeface="DM Sans" pitchFamily="34" charset="-120"/>
              </a:rPr>
              <a:t>AUTHENTICATION AND ROLE-BASED ACCESS</a:t>
            </a:r>
            <a:endParaRPr lang="en-US" sz="1300" dirty="0"/>
          </a:p>
        </p:txBody>
      </p:sp>
      <p:sp>
        <p:nvSpPr>
          <p:cNvPr id="3" name="Text 1"/>
          <p:cNvSpPr>
            <a:spLocks noGrp="1"/>
          </p:cNvSpPr>
          <p:nvPr>
            <p:ph type="title"/>
          </p:nvPr>
        </p:nvSpPr>
        <p:spPr>
          <a:xfrm>
            <a:off x="812800" y="114548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0F1B2D"/>
                </a:solidFill>
                <a:latin typeface="DM Sans" pitchFamily="34" charset="0"/>
                <a:ea typeface="DM Sans" pitchFamily="34" charset="-122"/>
                <a:cs typeface="DM Sans" pitchFamily="34" charset="-120"/>
              </a:rPr>
              <a:t>Different roles see different things</a:t>
            </a:r>
            <a:endParaRPr lang="en-US" sz="3200" dirty="0"/>
          </a:p>
        </p:txBody>
      </p:sp>
      <p:sp>
        <p:nvSpPr>
          <p:cNvPr id="4" name="Shape 2"/>
          <p:cNvSpPr/>
          <p:nvPr/>
        </p:nvSpPr>
        <p:spPr>
          <a:xfrm>
            <a:off x="812800" y="1902916"/>
            <a:ext cx="2260600" cy="831751"/>
          </a:xfrm>
          <a:prstGeom prst="roundRect">
            <a:avLst>
              <a:gd name="adj" fmla="val 15269"/>
            </a:avLst>
          </a:prstGeom>
          <a:solidFill>
            <a:srgbClr val="0F1B2D"/>
          </a:solidFill>
          <a:ln/>
        </p:spPr>
      </p:sp>
      <p:sp>
        <p:nvSpPr>
          <p:cNvPr id="5" name="Text 3"/>
          <p:cNvSpPr/>
          <p:nvPr/>
        </p:nvSpPr>
        <p:spPr>
          <a:xfrm>
            <a:off x="990600" y="2055316"/>
            <a:ext cx="1962150"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2DD4BF"/>
                </a:solidFill>
                <a:latin typeface="DM Sans" pitchFamily="34" charset="0"/>
                <a:ea typeface="DM Sans" pitchFamily="34" charset="-122"/>
                <a:cs typeface="DM Sans" pitchFamily="34" charset="-120"/>
              </a:rPr>
              <a:t>Login</a:t>
            </a:r>
            <a:endParaRPr lang="en-US" sz="1800" dirty="0"/>
          </a:p>
        </p:txBody>
      </p:sp>
      <p:sp>
        <p:nvSpPr>
          <p:cNvPr id="6" name="Text 4"/>
          <p:cNvSpPr/>
          <p:nvPr/>
        </p:nvSpPr>
        <p:spPr>
          <a:xfrm>
            <a:off x="990600" y="2367657"/>
            <a:ext cx="1962150" cy="24001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EAF0F8"/>
                </a:solidFill>
                <a:latin typeface="DM Sans" pitchFamily="34" charset="0"/>
                <a:ea typeface="DM Sans" pitchFamily="34" charset="-122"/>
                <a:cs typeface="DM Sans" pitchFamily="34" charset="-120"/>
              </a:rPr>
              <a:t>Email and password</a:t>
            </a:r>
            <a:endParaRPr lang="en-US" sz="1300" dirty="0"/>
          </a:p>
        </p:txBody>
      </p:sp>
      <p:pic>
        <p:nvPicPr>
          <p:cNvPr id="7" name="Image 0" descr="arrow-right"/>
          <p:cNvPicPr>
            <a:picLocks noChangeAspect="1"/>
          </p:cNvPicPr>
          <p:nvPr/>
        </p:nvPicPr>
        <p:blipFill>
          <a:blip r:embed="rId3"/>
          <a:srcRect/>
          <a:stretch/>
        </p:blipFill>
        <p:spPr>
          <a:xfrm>
            <a:off x="3175000" y="2242641"/>
            <a:ext cx="304800" cy="152400"/>
          </a:xfrm>
          <a:prstGeom prst="rect">
            <a:avLst/>
          </a:prstGeom>
        </p:spPr>
      </p:pic>
      <p:sp>
        <p:nvSpPr>
          <p:cNvPr id="8" name="Shape 5"/>
          <p:cNvSpPr/>
          <p:nvPr/>
        </p:nvSpPr>
        <p:spPr>
          <a:xfrm>
            <a:off x="3581400" y="1795661"/>
            <a:ext cx="2260600" cy="1046361"/>
          </a:xfrm>
          <a:prstGeom prst="roundRect">
            <a:avLst>
              <a:gd name="adj" fmla="val 12137"/>
            </a:avLst>
          </a:prstGeom>
          <a:solidFill>
            <a:srgbClr val="0F1B2D"/>
          </a:solidFill>
          <a:ln/>
        </p:spPr>
      </p:sp>
      <p:sp>
        <p:nvSpPr>
          <p:cNvPr id="9" name="Text 6"/>
          <p:cNvSpPr/>
          <p:nvPr/>
        </p:nvSpPr>
        <p:spPr>
          <a:xfrm>
            <a:off x="3759200" y="1948061"/>
            <a:ext cx="1962150"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2DD4BF"/>
                </a:solidFill>
                <a:latin typeface="DM Sans" pitchFamily="34" charset="0"/>
                <a:ea typeface="DM Sans" pitchFamily="34" charset="-122"/>
                <a:cs typeface="DM Sans" pitchFamily="34" charset="-120"/>
              </a:rPr>
              <a:t>Verify</a:t>
            </a:r>
            <a:endParaRPr lang="en-US" sz="1800" dirty="0"/>
          </a:p>
        </p:txBody>
      </p:sp>
      <p:sp>
        <p:nvSpPr>
          <p:cNvPr id="10" name="Text 7"/>
          <p:cNvSpPr/>
          <p:nvPr/>
        </p:nvSpPr>
        <p:spPr>
          <a:xfrm>
            <a:off x="3759200" y="2260402"/>
            <a:ext cx="1962150" cy="45462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EAF0F8"/>
                </a:solidFill>
                <a:latin typeface="DM Sans" pitchFamily="34" charset="0"/>
                <a:ea typeface="DM Sans" pitchFamily="34" charset="-122"/>
                <a:cs typeface="DM Sans" pitchFamily="34" charset="-120"/>
              </a:rPr>
              <a:t>bcrypt check, JWT issued</a:t>
            </a:r>
            <a:endParaRPr lang="en-US" sz="1300" dirty="0"/>
          </a:p>
        </p:txBody>
      </p:sp>
      <p:pic>
        <p:nvPicPr>
          <p:cNvPr id="11" name="Image 1" descr="arrow-right"/>
          <p:cNvPicPr>
            <a:picLocks noChangeAspect="1"/>
          </p:cNvPicPr>
          <p:nvPr/>
        </p:nvPicPr>
        <p:blipFill>
          <a:blip r:embed="rId3"/>
          <a:srcRect/>
          <a:stretch/>
        </p:blipFill>
        <p:spPr>
          <a:xfrm>
            <a:off x="5943600" y="2242641"/>
            <a:ext cx="304800" cy="152400"/>
          </a:xfrm>
          <a:prstGeom prst="rect">
            <a:avLst/>
          </a:prstGeom>
        </p:spPr>
      </p:pic>
      <p:sp>
        <p:nvSpPr>
          <p:cNvPr id="12" name="Shape 8"/>
          <p:cNvSpPr/>
          <p:nvPr/>
        </p:nvSpPr>
        <p:spPr>
          <a:xfrm>
            <a:off x="6350000" y="1902916"/>
            <a:ext cx="2260600" cy="831751"/>
          </a:xfrm>
          <a:prstGeom prst="roundRect">
            <a:avLst>
              <a:gd name="adj" fmla="val 15269"/>
            </a:avLst>
          </a:prstGeom>
          <a:solidFill>
            <a:srgbClr val="0F1B2D"/>
          </a:solidFill>
          <a:ln/>
        </p:spPr>
      </p:sp>
      <p:sp>
        <p:nvSpPr>
          <p:cNvPr id="13" name="Text 9"/>
          <p:cNvSpPr/>
          <p:nvPr/>
        </p:nvSpPr>
        <p:spPr>
          <a:xfrm>
            <a:off x="6527800" y="2055316"/>
            <a:ext cx="1962150"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2DD4BF"/>
                </a:solidFill>
                <a:latin typeface="DM Sans" pitchFamily="34" charset="0"/>
                <a:ea typeface="DM Sans" pitchFamily="34" charset="-122"/>
                <a:cs typeface="DM Sans" pitchFamily="34" charset="-120"/>
              </a:rPr>
              <a:t>Request</a:t>
            </a:r>
            <a:endParaRPr lang="en-US" sz="1800" dirty="0"/>
          </a:p>
        </p:txBody>
      </p:sp>
      <p:sp>
        <p:nvSpPr>
          <p:cNvPr id="14" name="Text 10"/>
          <p:cNvSpPr/>
          <p:nvPr/>
        </p:nvSpPr>
        <p:spPr>
          <a:xfrm>
            <a:off x="6527800" y="2367657"/>
            <a:ext cx="1962150" cy="24001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EAF0F8"/>
                </a:solidFill>
                <a:latin typeface="DM Sans" pitchFamily="34" charset="0"/>
                <a:ea typeface="DM Sans" pitchFamily="34" charset="-122"/>
                <a:cs typeface="DM Sans" pitchFamily="34" charset="-120"/>
              </a:rPr>
              <a:t>Token sent in header</a:t>
            </a:r>
            <a:endParaRPr lang="en-US" sz="1300" dirty="0"/>
          </a:p>
        </p:txBody>
      </p:sp>
      <p:pic>
        <p:nvPicPr>
          <p:cNvPr id="15" name="Image 2" descr="arrow-right"/>
          <p:cNvPicPr>
            <a:picLocks noChangeAspect="1"/>
          </p:cNvPicPr>
          <p:nvPr/>
        </p:nvPicPr>
        <p:blipFill>
          <a:blip r:embed="rId3"/>
          <a:srcRect/>
          <a:stretch/>
        </p:blipFill>
        <p:spPr>
          <a:xfrm>
            <a:off x="8712200" y="2242641"/>
            <a:ext cx="304800" cy="152400"/>
          </a:xfrm>
          <a:prstGeom prst="rect">
            <a:avLst/>
          </a:prstGeom>
        </p:spPr>
      </p:pic>
      <p:sp>
        <p:nvSpPr>
          <p:cNvPr id="16" name="Shape 11"/>
          <p:cNvSpPr/>
          <p:nvPr/>
        </p:nvSpPr>
        <p:spPr>
          <a:xfrm>
            <a:off x="9118600" y="1902916"/>
            <a:ext cx="2260600" cy="831751"/>
          </a:xfrm>
          <a:prstGeom prst="roundRect">
            <a:avLst>
              <a:gd name="adj" fmla="val 15269"/>
            </a:avLst>
          </a:prstGeom>
          <a:solidFill>
            <a:srgbClr val="0F1B2D"/>
          </a:solidFill>
          <a:ln/>
        </p:spPr>
      </p:sp>
      <p:sp>
        <p:nvSpPr>
          <p:cNvPr id="17" name="Text 12"/>
          <p:cNvSpPr/>
          <p:nvPr/>
        </p:nvSpPr>
        <p:spPr>
          <a:xfrm>
            <a:off x="9296400" y="2055316"/>
            <a:ext cx="1962150"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2DD4BF"/>
                </a:solidFill>
                <a:latin typeface="DM Sans" pitchFamily="34" charset="0"/>
                <a:ea typeface="DM Sans" pitchFamily="34" charset="-122"/>
                <a:cs typeface="DM Sans" pitchFamily="34" charset="-120"/>
              </a:rPr>
              <a:t>Authorize</a:t>
            </a:r>
            <a:endParaRPr lang="en-US" sz="1800" dirty="0"/>
          </a:p>
        </p:txBody>
      </p:sp>
      <p:sp>
        <p:nvSpPr>
          <p:cNvPr id="18" name="Text 13"/>
          <p:cNvSpPr/>
          <p:nvPr/>
        </p:nvSpPr>
        <p:spPr>
          <a:xfrm>
            <a:off x="9296400" y="2367657"/>
            <a:ext cx="1962150" cy="24001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EAF0F8"/>
                </a:solidFill>
                <a:latin typeface="DM Sans" pitchFamily="34" charset="0"/>
                <a:ea typeface="DM Sans" pitchFamily="34" charset="-122"/>
                <a:cs typeface="DM Sans" pitchFamily="34" charset="-120"/>
              </a:rPr>
              <a:t>Middleware checks role</a:t>
            </a:r>
            <a:endParaRPr lang="en-US" sz="13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825500" y="3057922"/>
          <a:ext cx="10553700" cy="2155627"/>
        </p:xfrm>
        <a:graphic>
          <a:graphicData uri="http://schemas.openxmlformats.org/drawingml/2006/table">
            <a:tbl>
              <a:tblPr/>
              <a:tblGrid>
                <a:gridCol w="2005203"/>
                <a:gridCol w="2849499"/>
                <a:gridCol w="2849499"/>
                <a:gridCol w="2849499"/>
              </a:tblGrid>
              <a:tr h="359271">
                <a:tc>
                  <a:txBody>
                    <a:bodyPr/>
                    <a:lstStyle/>
                    <a:p>
                      <a:pPr marL="0" indent="0">
                        <a:lnSpc>
                          <a:spcPts val="1820"/>
                        </a:lnSpc>
                        <a:buNone/>
                      </a:pPr>
                      <a:r>
                        <a:rPr lang="en-US" sz="1300" b="1" dirty="0">
                          <a:solidFill>
                            <a:srgbClr val="F4F7FB"/>
                          </a:solidFill>
                          <a:latin typeface="DM Sans" pitchFamily="34" charset="0"/>
                          <a:ea typeface="DM Sans" pitchFamily="34" charset="-122"/>
                          <a:cs typeface="DM Sans" pitchFamily="34" charset="-120"/>
                        </a:rPr>
                        <a:t>Area</a:t>
                      </a:r>
                      <a:endParaRPr lang="en-US" sz="1300" dirty="0">
                        <a:latin typeface="DM Sans" charset="0"/>
                        <a:ea typeface="DM Sans" charset="0"/>
                        <a:cs typeface="DM Sans"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101927"/>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101927"/>
                      </a:solidFill>
                      <a:prstDash val="solid"/>
                      <a:round/>
                      <a:headEnd type="none" w="med" len="med"/>
                      <a:tailEnd type="none" w="med" len="med"/>
                    </a:lnB>
                    <a:solidFill>
                      <a:srgbClr val="0F1B2D"/>
                    </a:solidFill>
                  </a:tcPr>
                </a:tc>
                <a:tc>
                  <a:txBody>
                    <a:bodyPr/>
                    <a:lstStyle/>
                    <a:p>
                      <a:pPr marL="0" indent="0">
                        <a:lnSpc>
                          <a:spcPts val="1820"/>
                        </a:lnSpc>
                        <a:buNone/>
                      </a:pPr>
                      <a:r>
                        <a:rPr lang="en-US" sz="1300" b="1" dirty="0">
                          <a:solidFill>
                            <a:srgbClr val="F4F7FB"/>
                          </a:solidFill>
                          <a:latin typeface="DM Sans" pitchFamily="34" charset="0"/>
                          <a:ea typeface="DM Sans" pitchFamily="34" charset="-122"/>
                          <a:cs typeface="DM Sans" pitchFamily="34" charset="-120"/>
                        </a:rPr>
                        <a:t>Admin</a:t>
                      </a:r>
                      <a:endParaRPr lang="en-US" sz="1300" dirty="0">
                        <a:latin typeface="DM Sans" charset="0"/>
                        <a:ea typeface="DM Sans" charset="0"/>
                        <a:cs typeface="DM Sans" charset="0"/>
                      </a:endParaRPr>
                    </a:p>
                  </a:txBody>
                  <a:tcPr marL="57785" marR="57785" marT="57785" marB="57785">
                    <a:lnL w="12700" cap="flat" cmpd="sng" algn="ctr">
                      <a:solidFill>
                        <a:srgbClr val="101927"/>
                      </a:solidFill>
                      <a:prstDash val="solid"/>
                      <a:round/>
                      <a:headEnd type="none" w="med" len="med"/>
                      <a:tailEnd type="none" w="med" len="med"/>
                    </a:lnL>
                    <a:lnR w="12700" cap="flat" cmpd="sng" algn="ctr">
                      <a:solidFill>
                        <a:srgbClr val="101927"/>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101927"/>
                      </a:solidFill>
                      <a:prstDash val="solid"/>
                      <a:round/>
                      <a:headEnd type="none" w="med" len="med"/>
                      <a:tailEnd type="none" w="med" len="med"/>
                    </a:lnB>
                    <a:solidFill>
                      <a:srgbClr val="0F1B2D"/>
                    </a:solidFill>
                  </a:tcPr>
                </a:tc>
                <a:tc>
                  <a:txBody>
                    <a:bodyPr/>
                    <a:lstStyle/>
                    <a:p>
                      <a:pPr marL="0" indent="0">
                        <a:lnSpc>
                          <a:spcPts val="1820"/>
                        </a:lnSpc>
                        <a:buNone/>
                      </a:pPr>
                      <a:r>
                        <a:rPr lang="en-US" sz="1300" b="1" dirty="0">
                          <a:solidFill>
                            <a:srgbClr val="F4F7FB"/>
                          </a:solidFill>
                          <a:latin typeface="DM Sans" pitchFamily="34" charset="0"/>
                          <a:ea typeface="DM Sans" pitchFamily="34" charset="-122"/>
                          <a:cs typeface="DM Sans" pitchFamily="34" charset="-120"/>
                        </a:rPr>
                        <a:t>Freelancer</a:t>
                      </a:r>
                      <a:endParaRPr lang="en-US" sz="1300" dirty="0">
                        <a:latin typeface="DM Sans" charset="0"/>
                        <a:ea typeface="DM Sans" charset="0"/>
                        <a:cs typeface="DM Sans" charset="0"/>
                      </a:endParaRPr>
                    </a:p>
                  </a:txBody>
                  <a:tcPr marL="57785" marR="57785" marT="57785" marB="57785">
                    <a:lnL w="12700" cap="flat" cmpd="sng" algn="ctr">
                      <a:solidFill>
                        <a:srgbClr val="101927"/>
                      </a:solidFill>
                      <a:prstDash val="solid"/>
                      <a:round/>
                      <a:headEnd type="none" w="med" len="med"/>
                      <a:tailEnd type="none" w="med" len="med"/>
                    </a:lnL>
                    <a:lnR w="12700" cap="flat" cmpd="sng" algn="ctr">
                      <a:solidFill>
                        <a:srgbClr val="101927"/>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101927"/>
                      </a:solidFill>
                      <a:prstDash val="solid"/>
                      <a:round/>
                      <a:headEnd type="none" w="med" len="med"/>
                      <a:tailEnd type="none" w="med" len="med"/>
                    </a:lnB>
                    <a:solidFill>
                      <a:srgbClr val="0F1B2D"/>
                    </a:solidFill>
                  </a:tcPr>
                </a:tc>
                <a:tc>
                  <a:txBody>
                    <a:bodyPr/>
                    <a:lstStyle/>
                    <a:p>
                      <a:pPr marL="0" indent="0">
                        <a:lnSpc>
                          <a:spcPts val="1820"/>
                        </a:lnSpc>
                        <a:buNone/>
                      </a:pPr>
                      <a:r>
                        <a:rPr lang="en-US" sz="1300" b="1" dirty="0">
                          <a:solidFill>
                            <a:srgbClr val="F4F7FB"/>
                          </a:solidFill>
                          <a:latin typeface="DM Sans" pitchFamily="34" charset="0"/>
                          <a:ea typeface="DM Sans" pitchFamily="34" charset="-122"/>
                          <a:cs typeface="DM Sans" pitchFamily="34" charset="-120"/>
                        </a:rPr>
                        <a:t>Client</a:t>
                      </a:r>
                      <a:endParaRPr lang="en-US" sz="1300" dirty="0">
                        <a:latin typeface="DM Sans" charset="0"/>
                        <a:ea typeface="DM Sans" charset="0"/>
                        <a:cs typeface="DM Sans" charset="0"/>
                      </a:endParaRPr>
                    </a:p>
                  </a:txBody>
                  <a:tcPr marL="57785" marR="57785" marT="57785" marB="57785">
                    <a:lnL w="12700" cap="flat" cmpd="sng" algn="ctr">
                      <a:solidFill>
                        <a:srgbClr val="101927"/>
                      </a:solidFill>
                      <a:prstDash val="solid"/>
                      <a:round/>
                      <a:headEnd type="none" w="med" len="med"/>
                      <a:tailEnd type="none" w="med" len="med"/>
                    </a:lnL>
                    <a:lnR w="12700" cap="flat" cmpd="sng" algn="ctr">
                      <a:solidFill>
                        <a:srgbClr val="101927"/>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101927"/>
                      </a:solidFill>
                      <a:prstDash val="solid"/>
                      <a:round/>
                      <a:headEnd type="none" w="med" len="med"/>
                      <a:tailEnd type="none" w="med" len="med"/>
                    </a:lnB>
                    <a:solidFill>
                      <a:srgbClr val="0F1B2D"/>
                    </a:solidFill>
                  </a:tcPr>
                </a:tc>
              </a:tr>
              <a:tr h="359271">
                <a:tc>
                  <a:txBody>
                    <a:bodyPr/>
                    <a:lstStyle/>
                    <a:p>
                      <a:pPr marL="0" indent="0">
                        <a:lnSpc>
                          <a:spcPts val="1820"/>
                        </a:lnSpc>
                        <a:buNone/>
                      </a:pPr>
                      <a:r>
                        <a:rPr lang="en-US" sz="1300" dirty="0">
                          <a:solidFill>
                            <a:srgbClr val="0F1B2D"/>
                          </a:solidFill>
                          <a:latin typeface="DM Sans" pitchFamily="34" charset="0"/>
                          <a:ea typeface="DM Sans" pitchFamily="34" charset="-122"/>
                          <a:cs typeface="DM Sans" pitchFamily="34" charset="-120"/>
                        </a:rPr>
                        <a:t>Dashboard</a:t>
                      </a:r>
                      <a:endParaRPr lang="en-US" sz="1300" dirty="0">
                        <a:latin typeface="DM Sans" charset="0"/>
                        <a:ea typeface="DM Sans" charset="0"/>
                        <a:cs typeface="DM Sans"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101927"/>
                      </a:solidFill>
                      <a:prstDash val="solid"/>
                      <a:round/>
                      <a:headEnd type="none" w="med" len="med"/>
                      <a:tailEnd type="none" w="med" len="med"/>
                    </a:lnT>
                    <a:lnB w="12700" cap="flat" cmpd="sng" algn="ctr">
                      <a:solidFill>
                        <a:srgbClr val="C8C7C5"/>
                      </a:solidFill>
                      <a:prstDash val="solid"/>
                      <a:round/>
                      <a:headEnd type="none" w="med" len="med"/>
                      <a:tailEnd type="none" w="med" len="med"/>
                    </a:lnB>
                    <a:solidFill>
                      <a:srgbClr val="FBFAF7"/>
                    </a:solidFill>
                  </a:tcPr>
                </a:tc>
                <a:tc>
                  <a:txBody>
                    <a:bodyPr/>
                    <a:lstStyle/>
                    <a:p>
                      <a:pPr marL="0" indent="0">
                        <a:lnSpc>
                          <a:spcPts val="1820"/>
                        </a:lnSpc>
                        <a:buNone/>
                      </a:pPr>
                      <a:r>
                        <a:rPr lang="en-US" sz="1300" dirty="0">
                          <a:solidFill>
                            <a:srgbClr val="0F1B2D"/>
                          </a:solidFill>
                          <a:latin typeface="DM Sans" pitchFamily="34" charset="0"/>
                          <a:ea typeface="DM Sans" pitchFamily="34" charset="-122"/>
                          <a:cs typeface="DM Sans" pitchFamily="34" charset="-120"/>
                        </a:rPr>
                        <a:t>All data</a:t>
                      </a:r>
                      <a:endParaRPr lang="en-US" sz="1300" dirty="0">
                        <a:latin typeface="DM Sans" charset="0"/>
                        <a:ea typeface="DM Sans" charset="0"/>
                        <a:cs typeface="DM Sans" charset="0"/>
                      </a:endParaRPr>
                    </a:p>
                  </a:txBody>
                  <a:tcPr marL="57785" marR="57785" marT="57785" marB="57785">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101927"/>
                      </a:solidFill>
                      <a:prstDash val="solid"/>
                      <a:round/>
                      <a:headEnd type="none" w="med" len="med"/>
                      <a:tailEnd type="none" w="med" len="med"/>
                    </a:lnT>
                    <a:lnB w="12700" cap="flat" cmpd="sng" algn="ctr">
                      <a:solidFill>
                        <a:srgbClr val="C8C7C5"/>
                      </a:solidFill>
                      <a:prstDash val="solid"/>
                      <a:round/>
                      <a:headEnd type="none" w="med" len="med"/>
                      <a:tailEnd type="none" w="med" len="med"/>
                    </a:lnB>
                    <a:solidFill>
                      <a:srgbClr val="FBFAF7"/>
                    </a:solidFill>
                  </a:tcPr>
                </a:tc>
                <a:tc>
                  <a:txBody>
                    <a:bodyPr/>
                    <a:lstStyle/>
                    <a:p>
                      <a:pPr marL="0" indent="0">
                        <a:lnSpc>
                          <a:spcPts val="1820"/>
                        </a:lnSpc>
                        <a:buNone/>
                      </a:pPr>
                      <a:r>
                        <a:rPr lang="en-US" sz="1300" dirty="0">
                          <a:solidFill>
                            <a:srgbClr val="0F1B2D"/>
                          </a:solidFill>
                          <a:latin typeface="DM Sans" pitchFamily="34" charset="0"/>
                          <a:ea typeface="DM Sans" pitchFamily="34" charset="-122"/>
                          <a:cs typeface="DM Sans" pitchFamily="34" charset="-120"/>
                        </a:rPr>
                        <a:t>Own work</a:t>
                      </a:r>
                      <a:endParaRPr lang="en-US" sz="1300" dirty="0">
                        <a:latin typeface="DM Sans" charset="0"/>
                        <a:ea typeface="DM Sans" charset="0"/>
                        <a:cs typeface="DM Sans" charset="0"/>
                      </a:endParaRPr>
                    </a:p>
                  </a:txBody>
                  <a:tcPr marL="57785" marR="57785" marT="57785" marB="57785">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101927"/>
                      </a:solidFill>
                      <a:prstDash val="solid"/>
                      <a:round/>
                      <a:headEnd type="none" w="med" len="med"/>
                      <a:tailEnd type="none" w="med" len="med"/>
                    </a:lnT>
                    <a:lnB w="12700" cap="flat" cmpd="sng" algn="ctr">
                      <a:solidFill>
                        <a:srgbClr val="C8C7C5"/>
                      </a:solidFill>
                      <a:prstDash val="solid"/>
                      <a:round/>
                      <a:headEnd type="none" w="med" len="med"/>
                      <a:tailEnd type="none" w="med" len="med"/>
                    </a:lnB>
                    <a:solidFill>
                      <a:srgbClr val="FBFAF7"/>
                    </a:solidFill>
                  </a:tcPr>
                </a:tc>
                <a:tc>
                  <a:txBody>
                    <a:bodyPr/>
                    <a:lstStyle/>
                    <a:p>
                      <a:pPr marL="0" indent="0">
                        <a:lnSpc>
                          <a:spcPts val="1820"/>
                        </a:lnSpc>
                        <a:buNone/>
                      </a:pPr>
                      <a:r>
                        <a:rPr lang="en-US" sz="1300" dirty="0">
                          <a:solidFill>
                            <a:srgbClr val="0F1B2D"/>
                          </a:solidFill>
                          <a:latin typeface="DM Sans" pitchFamily="34" charset="0"/>
                          <a:ea typeface="DM Sans" pitchFamily="34" charset="-122"/>
                          <a:cs typeface="DM Sans" pitchFamily="34" charset="-120"/>
                        </a:rPr>
                        <a:t>Own projects</a:t>
                      </a:r>
                      <a:endParaRPr lang="en-US" sz="1300" dirty="0">
                        <a:latin typeface="DM Sans" charset="0"/>
                        <a:ea typeface="DM Sans" charset="0"/>
                        <a:cs typeface="DM Sans" charset="0"/>
                      </a:endParaRPr>
                    </a:p>
                  </a:txBody>
                  <a:tcPr marL="57785" marR="57785" marT="57785" marB="57785">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101927"/>
                      </a:solidFill>
                      <a:prstDash val="solid"/>
                      <a:round/>
                      <a:headEnd type="none" w="med" len="med"/>
                      <a:tailEnd type="none" w="med" len="med"/>
                    </a:lnT>
                    <a:lnB w="12700" cap="flat" cmpd="sng" algn="ctr">
                      <a:solidFill>
                        <a:srgbClr val="C8C7C5"/>
                      </a:solidFill>
                      <a:prstDash val="solid"/>
                      <a:round/>
                      <a:headEnd type="none" w="med" len="med"/>
                      <a:tailEnd type="none" w="med" len="med"/>
                    </a:lnB>
                    <a:solidFill>
                      <a:srgbClr val="FBFAF7"/>
                    </a:solidFill>
                  </a:tcPr>
                </a:tc>
              </a:tr>
              <a:tr h="359271">
                <a:tc>
                  <a:txBody>
                    <a:bodyPr/>
                    <a:lstStyle/>
                    <a:p>
                      <a:pPr marL="0" indent="0">
                        <a:lnSpc>
                          <a:spcPts val="1820"/>
                        </a:lnSpc>
                        <a:buNone/>
                      </a:pPr>
                      <a:r>
                        <a:rPr lang="en-US" sz="1300" dirty="0">
                          <a:solidFill>
                            <a:srgbClr val="0F1B2D"/>
                          </a:solidFill>
                          <a:latin typeface="DM Sans" pitchFamily="34" charset="0"/>
                          <a:ea typeface="DM Sans" pitchFamily="34" charset="-122"/>
                          <a:cs typeface="DM Sans" pitchFamily="34" charset="-120"/>
                        </a:rPr>
                        <a:t>Clients</a:t>
                      </a:r>
                      <a:endParaRPr lang="en-US" sz="1300" dirty="0">
                        <a:latin typeface="DM Sans" charset="0"/>
                        <a:ea typeface="DM Sans" charset="0"/>
                        <a:cs typeface="DM Sans"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BCBAB3"/>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BCBAB3"/>
                      </a:solidFill>
                      <a:prstDash val="solid"/>
                      <a:round/>
                      <a:headEnd type="none" w="med" len="med"/>
                      <a:tailEnd type="none" w="med" len="med"/>
                    </a:lnB>
                    <a:solidFill>
                      <a:srgbClr val="ECE9E0"/>
                    </a:solidFill>
                  </a:tcPr>
                </a:tc>
                <a:tc>
                  <a:txBody>
                    <a:bodyPr/>
                    <a:lstStyle/>
                    <a:p>
                      <a:pPr marL="0" indent="0">
                        <a:lnSpc>
                          <a:spcPts val="1820"/>
                        </a:lnSpc>
                        <a:buNone/>
                      </a:pPr>
                      <a:r>
                        <a:rPr lang="en-US" sz="1300" dirty="0">
                          <a:solidFill>
                            <a:srgbClr val="0F1B2D"/>
                          </a:solidFill>
                          <a:latin typeface="DM Sans" pitchFamily="34" charset="0"/>
                          <a:ea typeface="DM Sans" pitchFamily="34" charset="-122"/>
                          <a:cs typeface="DM Sans" pitchFamily="34" charset="-120"/>
                        </a:rPr>
                        <a:t>Full control</a:t>
                      </a:r>
                      <a:endParaRPr lang="en-US" sz="1300" dirty="0">
                        <a:latin typeface="DM Sans" charset="0"/>
                        <a:ea typeface="DM Sans" charset="0"/>
                        <a:cs typeface="DM Sans" charset="0"/>
                      </a:endParaRPr>
                    </a:p>
                  </a:txBody>
                  <a:tcPr marL="57785" marR="57785" marT="57785" marB="57785">
                    <a:lnL w="12700" cap="flat" cmpd="sng" algn="ctr">
                      <a:solidFill>
                        <a:srgbClr val="BCBAB3"/>
                      </a:solidFill>
                      <a:prstDash val="solid"/>
                      <a:round/>
                      <a:headEnd type="none" w="med" len="med"/>
                      <a:tailEnd type="none" w="med" len="med"/>
                    </a:lnL>
                    <a:lnR w="12700" cap="flat" cmpd="sng" algn="ctr">
                      <a:solidFill>
                        <a:srgbClr val="BCBAB3"/>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BCBAB3"/>
                      </a:solidFill>
                      <a:prstDash val="solid"/>
                      <a:round/>
                      <a:headEnd type="none" w="med" len="med"/>
                      <a:tailEnd type="none" w="med" len="med"/>
                    </a:lnB>
                    <a:solidFill>
                      <a:srgbClr val="ECE9E0"/>
                    </a:solidFill>
                  </a:tcPr>
                </a:tc>
                <a:tc>
                  <a:txBody>
                    <a:bodyPr/>
                    <a:lstStyle/>
                    <a:p>
                      <a:pPr marL="0" indent="0">
                        <a:lnSpc>
                          <a:spcPts val="1820"/>
                        </a:lnSpc>
                        <a:buNone/>
                      </a:pPr>
                      <a:r>
                        <a:rPr lang="en-US" sz="1300" dirty="0">
                          <a:solidFill>
                            <a:srgbClr val="0F1B2D"/>
                          </a:solidFill>
                          <a:latin typeface="DM Sans" pitchFamily="34" charset="0"/>
                          <a:ea typeface="DM Sans" pitchFamily="34" charset="-122"/>
                          <a:cs typeface="DM Sans" pitchFamily="34" charset="-120"/>
                        </a:rPr>
                        <a:t>Create, edit, delete</a:t>
                      </a:r>
                      <a:endParaRPr lang="en-US" sz="1300" dirty="0">
                        <a:latin typeface="DM Sans" charset="0"/>
                        <a:ea typeface="DM Sans" charset="0"/>
                        <a:cs typeface="DM Sans" charset="0"/>
                      </a:endParaRPr>
                    </a:p>
                  </a:txBody>
                  <a:tcPr marL="57785" marR="57785" marT="57785" marB="57785">
                    <a:lnL w="12700" cap="flat" cmpd="sng" algn="ctr">
                      <a:solidFill>
                        <a:srgbClr val="BCBAB3"/>
                      </a:solidFill>
                      <a:prstDash val="solid"/>
                      <a:round/>
                      <a:headEnd type="none" w="med" len="med"/>
                      <a:tailEnd type="none" w="med" len="med"/>
                    </a:lnL>
                    <a:lnR w="12700" cap="flat" cmpd="sng" algn="ctr">
                      <a:solidFill>
                        <a:srgbClr val="BCBAB3"/>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BCBAB3"/>
                      </a:solidFill>
                      <a:prstDash val="solid"/>
                      <a:round/>
                      <a:headEnd type="none" w="med" len="med"/>
                      <a:tailEnd type="none" w="med" len="med"/>
                    </a:lnB>
                    <a:solidFill>
                      <a:srgbClr val="ECE9E0"/>
                    </a:solidFill>
                  </a:tcPr>
                </a:tc>
                <a:tc>
                  <a:txBody>
                    <a:bodyPr/>
                    <a:lstStyle/>
                    <a:p>
                      <a:pPr marL="0" indent="0">
                        <a:lnSpc>
                          <a:spcPts val="1820"/>
                        </a:lnSpc>
                        <a:buNone/>
                      </a:pPr>
                      <a:r>
                        <a:rPr lang="en-US" sz="1300" dirty="0">
                          <a:solidFill>
                            <a:srgbClr val="0F1B2D"/>
                          </a:solidFill>
                          <a:latin typeface="DM Sans" pitchFamily="34" charset="0"/>
                          <a:ea typeface="DM Sans" pitchFamily="34" charset="-122"/>
                          <a:cs typeface="DM Sans" pitchFamily="34" charset="-120"/>
                        </a:rPr>
                        <a:t>View own profile</a:t>
                      </a:r>
                      <a:endParaRPr lang="en-US" sz="1300" dirty="0">
                        <a:latin typeface="DM Sans" charset="0"/>
                        <a:ea typeface="DM Sans" charset="0"/>
                        <a:cs typeface="DM Sans" charset="0"/>
                      </a:endParaRPr>
                    </a:p>
                  </a:txBody>
                  <a:tcPr marL="57785" marR="57785" marT="57785" marB="57785">
                    <a:lnL w="12700" cap="flat" cmpd="sng" algn="ctr">
                      <a:solidFill>
                        <a:srgbClr val="BCBAB3"/>
                      </a:solidFill>
                      <a:prstDash val="solid"/>
                      <a:round/>
                      <a:headEnd type="none" w="med" len="med"/>
                      <a:tailEnd type="none" w="med" len="med"/>
                    </a:lnL>
                    <a:lnR w="12700" cap="flat" cmpd="sng" algn="ctr">
                      <a:solidFill>
                        <a:srgbClr val="BCBAB3"/>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BCBAB3"/>
                      </a:solidFill>
                      <a:prstDash val="solid"/>
                      <a:round/>
                      <a:headEnd type="none" w="med" len="med"/>
                      <a:tailEnd type="none" w="med" len="med"/>
                    </a:lnB>
                    <a:solidFill>
                      <a:srgbClr val="ECE9E0"/>
                    </a:solidFill>
                  </a:tcPr>
                </a:tc>
              </a:tr>
              <a:tr h="359271">
                <a:tc>
                  <a:txBody>
                    <a:bodyPr/>
                    <a:lstStyle/>
                    <a:p>
                      <a:pPr marL="0" indent="0">
                        <a:lnSpc>
                          <a:spcPts val="1820"/>
                        </a:lnSpc>
                        <a:buNone/>
                      </a:pPr>
                      <a:r>
                        <a:rPr lang="en-US" sz="1300" dirty="0">
                          <a:solidFill>
                            <a:srgbClr val="0F1B2D"/>
                          </a:solidFill>
                          <a:latin typeface="DM Sans" pitchFamily="34" charset="0"/>
                          <a:ea typeface="DM Sans" pitchFamily="34" charset="-122"/>
                          <a:cs typeface="DM Sans" pitchFamily="34" charset="-120"/>
                        </a:rPr>
                        <a:t>Projects</a:t>
                      </a:r>
                      <a:endParaRPr lang="en-US" sz="1300" dirty="0">
                        <a:latin typeface="DM Sans" charset="0"/>
                        <a:ea typeface="DM Sans" charset="0"/>
                        <a:cs typeface="DM Sans"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BCBAB3"/>
                      </a:solidFill>
                      <a:prstDash val="solid"/>
                      <a:round/>
                      <a:headEnd type="none" w="med" len="med"/>
                      <a:tailEnd type="none" w="med" len="med"/>
                    </a:lnT>
                    <a:lnB w="12700" cap="flat" cmpd="sng" algn="ctr">
                      <a:solidFill>
                        <a:srgbClr val="C8C7C5"/>
                      </a:solidFill>
                      <a:prstDash val="solid"/>
                      <a:round/>
                      <a:headEnd type="none" w="med" len="med"/>
                      <a:tailEnd type="none" w="med" len="med"/>
                    </a:lnB>
                    <a:solidFill>
                      <a:srgbClr val="FBFAF7"/>
                    </a:solidFill>
                  </a:tcPr>
                </a:tc>
                <a:tc>
                  <a:txBody>
                    <a:bodyPr/>
                    <a:lstStyle/>
                    <a:p>
                      <a:pPr marL="0" indent="0">
                        <a:lnSpc>
                          <a:spcPts val="1820"/>
                        </a:lnSpc>
                        <a:buNone/>
                      </a:pPr>
                      <a:r>
                        <a:rPr lang="en-US" sz="1300" dirty="0">
                          <a:solidFill>
                            <a:srgbClr val="0F1B2D"/>
                          </a:solidFill>
                          <a:latin typeface="DM Sans" pitchFamily="34" charset="0"/>
                          <a:ea typeface="DM Sans" pitchFamily="34" charset="-122"/>
                          <a:cs typeface="DM Sans" pitchFamily="34" charset="-120"/>
                        </a:rPr>
                        <a:t>Full control</a:t>
                      </a:r>
                      <a:endParaRPr lang="en-US" sz="1300" dirty="0">
                        <a:latin typeface="DM Sans" charset="0"/>
                        <a:ea typeface="DM Sans" charset="0"/>
                        <a:cs typeface="DM Sans" charset="0"/>
                      </a:endParaRPr>
                    </a:p>
                  </a:txBody>
                  <a:tcPr marL="57785" marR="57785" marT="57785" marB="57785">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BCBAB3"/>
                      </a:solidFill>
                      <a:prstDash val="solid"/>
                      <a:round/>
                      <a:headEnd type="none" w="med" len="med"/>
                      <a:tailEnd type="none" w="med" len="med"/>
                    </a:lnT>
                    <a:lnB w="12700" cap="flat" cmpd="sng" algn="ctr">
                      <a:solidFill>
                        <a:srgbClr val="C8C7C5"/>
                      </a:solidFill>
                      <a:prstDash val="solid"/>
                      <a:round/>
                      <a:headEnd type="none" w="med" len="med"/>
                      <a:tailEnd type="none" w="med" len="med"/>
                    </a:lnB>
                    <a:solidFill>
                      <a:srgbClr val="FBFAF7"/>
                    </a:solidFill>
                  </a:tcPr>
                </a:tc>
                <a:tc>
                  <a:txBody>
                    <a:bodyPr/>
                    <a:lstStyle/>
                    <a:p>
                      <a:pPr marL="0" indent="0">
                        <a:lnSpc>
                          <a:spcPts val="1820"/>
                        </a:lnSpc>
                        <a:buNone/>
                      </a:pPr>
                      <a:r>
                        <a:rPr lang="en-US" sz="1300" dirty="0">
                          <a:solidFill>
                            <a:srgbClr val="0F1B2D"/>
                          </a:solidFill>
                          <a:latin typeface="DM Sans" pitchFamily="34" charset="0"/>
                          <a:ea typeface="DM Sans" pitchFamily="34" charset="-122"/>
                          <a:cs typeface="DM Sans" pitchFamily="34" charset="-120"/>
                        </a:rPr>
                        <a:t>Create, edit, delete</a:t>
                      </a:r>
                      <a:endParaRPr lang="en-US" sz="1300" dirty="0">
                        <a:latin typeface="DM Sans" charset="0"/>
                        <a:ea typeface="DM Sans" charset="0"/>
                        <a:cs typeface="DM Sans" charset="0"/>
                      </a:endParaRPr>
                    </a:p>
                  </a:txBody>
                  <a:tcPr marL="57785" marR="57785" marT="57785" marB="57785">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BCBAB3"/>
                      </a:solidFill>
                      <a:prstDash val="solid"/>
                      <a:round/>
                      <a:headEnd type="none" w="med" len="med"/>
                      <a:tailEnd type="none" w="med" len="med"/>
                    </a:lnT>
                    <a:lnB w="12700" cap="flat" cmpd="sng" algn="ctr">
                      <a:solidFill>
                        <a:srgbClr val="C8C7C5"/>
                      </a:solidFill>
                      <a:prstDash val="solid"/>
                      <a:round/>
                      <a:headEnd type="none" w="med" len="med"/>
                      <a:tailEnd type="none" w="med" len="med"/>
                    </a:lnB>
                    <a:solidFill>
                      <a:srgbClr val="FBFAF7"/>
                    </a:solidFill>
                  </a:tcPr>
                </a:tc>
                <a:tc>
                  <a:txBody>
                    <a:bodyPr/>
                    <a:lstStyle/>
                    <a:p>
                      <a:pPr marL="0" indent="0">
                        <a:lnSpc>
                          <a:spcPts val="1820"/>
                        </a:lnSpc>
                        <a:buNone/>
                      </a:pPr>
                      <a:r>
                        <a:rPr lang="en-US" sz="1300" dirty="0">
                          <a:solidFill>
                            <a:srgbClr val="0F1B2D"/>
                          </a:solidFill>
                          <a:latin typeface="DM Sans" pitchFamily="34" charset="0"/>
                          <a:ea typeface="DM Sans" pitchFamily="34" charset="-122"/>
                          <a:cs typeface="DM Sans" pitchFamily="34" charset="-120"/>
                        </a:rPr>
                        <a:t>View only</a:t>
                      </a:r>
                      <a:endParaRPr lang="en-US" sz="1300" dirty="0">
                        <a:latin typeface="DM Sans" charset="0"/>
                        <a:ea typeface="DM Sans" charset="0"/>
                        <a:cs typeface="DM Sans" charset="0"/>
                      </a:endParaRPr>
                    </a:p>
                  </a:txBody>
                  <a:tcPr marL="57785" marR="57785" marT="57785" marB="57785">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BCBAB3"/>
                      </a:solidFill>
                      <a:prstDash val="solid"/>
                      <a:round/>
                      <a:headEnd type="none" w="med" len="med"/>
                      <a:tailEnd type="none" w="med" len="med"/>
                    </a:lnT>
                    <a:lnB w="12700" cap="flat" cmpd="sng" algn="ctr">
                      <a:solidFill>
                        <a:srgbClr val="C8C7C5"/>
                      </a:solidFill>
                      <a:prstDash val="solid"/>
                      <a:round/>
                      <a:headEnd type="none" w="med" len="med"/>
                      <a:tailEnd type="none" w="med" len="med"/>
                    </a:lnB>
                    <a:solidFill>
                      <a:srgbClr val="FBFAF7"/>
                    </a:solidFill>
                  </a:tcPr>
                </a:tc>
              </a:tr>
              <a:tr h="359271">
                <a:tc>
                  <a:txBody>
                    <a:bodyPr/>
                    <a:lstStyle/>
                    <a:p>
                      <a:pPr marL="0" indent="0">
                        <a:lnSpc>
                          <a:spcPts val="1820"/>
                        </a:lnSpc>
                        <a:buNone/>
                      </a:pPr>
                      <a:r>
                        <a:rPr lang="en-US" sz="1300" dirty="0">
                          <a:solidFill>
                            <a:srgbClr val="0F1B2D"/>
                          </a:solidFill>
                          <a:latin typeface="DM Sans" pitchFamily="34" charset="0"/>
                          <a:ea typeface="DM Sans" pitchFamily="34" charset="-122"/>
                          <a:cs typeface="DM Sans" pitchFamily="34" charset="-120"/>
                        </a:rPr>
                        <a:t>Tasks</a:t>
                      </a:r>
                      <a:endParaRPr lang="en-US" sz="1300" dirty="0">
                        <a:latin typeface="DM Sans" charset="0"/>
                        <a:ea typeface="DM Sans" charset="0"/>
                        <a:cs typeface="DM Sans"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BCBAB3"/>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BCBAB3"/>
                      </a:solidFill>
                      <a:prstDash val="solid"/>
                      <a:round/>
                      <a:headEnd type="none" w="med" len="med"/>
                      <a:tailEnd type="none" w="med" len="med"/>
                    </a:lnB>
                    <a:solidFill>
                      <a:srgbClr val="ECE9E0"/>
                    </a:solidFill>
                  </a:tcPr>
                </a:tc>
                <a:tc>
                  <a:txBody>
                    <a:bodyPr/>
                    <a:lstStyle/>
                    <a:p>
                      <a:pPr marL="0" indent="0">
                        <a:lnSpc>
                          <a:spcPts val="1820"/>
                        </a:lnSpc>
                        <a:buNone/>
                      </a:pPr>
                      <a:r>
                        <a:rPr lang="en-US" sz="1300" dirty="0">
                          <a:solidFill>
                            <a:srgbClr val="0F1B2D"/>
                          </a:solidFill>
                          <a:latin typeface="DM Sans" pitchFamily="34" charset="0"/>
                          <a:ea typeface="DM Sans" pitchFamily="34" charset="-122"/>
                          <a:cs typeface="DM Sans" pitchFamily="34" charset="-120"/>
                        </a:rPr>
                        <a:t>Full control</a:t>
                      </a:r>
                      <a:endParaRPr lang="en-US" sz="1300" dirty="0">
                        <a:latin typeface="DM Sans" charset="0"/>
                        <a:ea typeface="DM Sans" charset="0"/>
                        <a:cs typeface="DM Sans" charset="0"/>
                      </a:endParaRPr>
                    </a:p>
                  </a:txBody>
                  <a:tcPr marL="57785" marR="57785" marT="57785" marB="57785">
                    <a:lnL w="12700" cap="flat" cmpd="sng" algn="ctr">
                      <a:solidFill>
                        <a:srgbClr val="BCBAB3"/>
                      </a:solidFill>
                      <a:prstDash val="solid"/>
                      <a:round/>
                      <a:headEnd type="none" w="med" len="med"/>
                      <a:tailEnd type="none" w="med" len="med"/>
                    </a:lnL>
                    <a:lnR w="12700" cap="flat" cmpd="sng" algn="ctr">
                      <a:solidFill>
                        <a:srgbClr val="BCBAB3"/>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BCBAB3"/>
                      </a:solidFill>
                      <a:prstDash val="solid"/>
                      <a:round/>
                      <a:headEnd type="none" w="med" len="med"/>
                      <a:tailEnd type="none" w="med" len="med"/>
                    </a:lnB>
                    <a:solidFill>
                      <a:srgbClr val="ECE9E0"/>
                    </a:solidFill>
                  </a:tcPr>
                </a:tc>
                <a:tc>
                  <a:txBody>
                    <a:bodyPr/>
                    <a:lstStyle/>
                    <a:p>
                      <a:pPr marL="0" indent="0">
                        <a:lnSpc>
                          <a:spcPts val="1820"/>
                        </a:lnSpc>
                        <a:buNone/>
                      </a:pPr>
                      <a:r>
                        <a:rPr lang="en-US" sz="1300" dirty="0">
                          <a:solidFill>
                            <a:srgbClr val="0F1B2D"/>
                          </a:solidFill>
                          <a:latin typeface="DM Sans" pitchFamily="34" charset="0"/>
                          <a:ea typeface="DM Sans" pitchFamily="34" charset="-122"/>
                          <a:cs typeface="DM Sans" pitchFamily="34" charset="-120"/>
                        </a:rPr>
                        <a:t>Create, update</a:t>
                      </a:r>
                      <a:endParaRPr lang="en-US" sz="1300" dirty="0">
                        <a:latin typeface="DM Sans" charset="0"/>
                        <a:ea typeface="DM Sans" charset="0"/>
                        <a:cs typeface="DM Sans" charset="0"/>
                      </a:endParaRPr>
                    </a:p>
                  </a:txBody>
                  <a:tcPr marL="57785" marR="57785" marT="57785" marB="57785">
                    <a:lnL w="12700" cap="flat" cmpd="sng" algn="ctr">
                      <a:solidFill>
                        <a:srgbClr val="BCBAB3"/>
                      </a:solidFill>
                      <a:prstDash val="solid"/>
                      <a:round/>
                      <a:headEnd type="none" w="med" len="med"/>
                      <a:tailEnd type="none" w="med" len="med"/>
                    </a:lnL>
                    <a:lnR w="12700" cap="flat" cmpd="sng" algn="ctr">
                      <a:solidFill>
                        <a:srgbClr val="BCBAB3"/>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BCBAB3"/>
                      </a:solidFill>
                      <a:prstDash val="solid"/>
                      <a:round/>
                      <a:headEnd type="none" w="med" len="med"/>
                      <a:tailEnd type="none" w="med" len="med"/>
                    </a:lnB>
                    <a:solidFill>
                      <a:srgbClr val="ECE9E0"/>
                    </a:solidFill>
                  </a:tcPr>
                </a:tc>
                <a:tc>
                  <a:txBody>
                    <a:bodyPr/>
                    <a:lstStyle/>
                    <a:p>
                      <a:pPr marL="0" indent="0">
                        <a:lnSpc>
                          <a:spcPts val="1820"/>
                        </a:lnSpc>
                        <a:buNone/>
                      </a:pPr>
                      <a:r>
                        <a:rPr lang="en-US" sz="1300" dirty="0">
                          <a:solidFill>
                            <a:srgbClr val="0F1B2D"/>
                          </a:solidFill>
                          <a:latin typeface="DM Sans" pitchFamily="34" charset="0"/>
                          <a:ea typeface="DM Sans" pitchFamily="34" charset="-122"/>
                          <a:cs typeface="DM Sans" pitchFamily="34" charset="-120"/>
                        </a:rPr>
                        <a:t>View status</a:t>
                      </a:r>
                      <a:endParaRPr lang="en-US" sz="1300" dirty="0">
                        <a:latin typeface="DM Sans" charset="0"/>
                        <a:ea typeface="DM Sans" charset="0"/>
                        <a:cs typeface="DM Sans" charset="0"/>
                      </a:endParaRPr>
                    </a:p>
                  </a:txBody>
                  <a:tcPr marL="57785" marR="57785" marT="57785" marB="57785">
                    <a:lnL w="12700" cap="flat" cmpd="sng" algn="ctr">
                      <a:solidFill>
                        <a:srgbClr val="BCBAB3"/>
                      </a:solidFill>
                      <a:prstDash val="solid"/>
                      <a:round/>
                      <a:headEnd type="none" w="med" len="med"/>
                      <a:tailEnd type="none" w="med" len="med"/>
                    </a:lnL>
                    <a:lnR w="12700" cap="flat" cmpd="sng" algn="ctr">
                      <a:solidFill>
                        <a:srgbClr val="BCBAB3"/>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BCBAB3"/>
                      </a:solidFill>
                      <a:prstDash val="solid"/>
                      <a:round/>
                      <a:headEnd type="none" w="med" len="med"/>
                      <a:tailEnd type="none" w="med" len="med"/>
                    </a:lnB>
                    <a:solidFill>
                      <a:srgbClr val="ECE9E0"/>
                    </a:solidFill>
                  </a:tcPr>
                </a:tc>
              </a:tr>
              <a:tr h="359271">
                <a:tc>
                  <a:txBody>
                    <a:bodyPr/>
                    <a:lstStyle/>
                    <a:p>
                      <a:pPr marL="0" indent="0">
                        <a:lnSpc>
                          <a:spcPts val="1820"/>
                        </a:lnSpc>
                        <a:buNone/>
                      </a:pPr>
                      <a:r>
                        <a:rPr lang="en-US" sz="1300" dirty="0">
                          <a:solidFill>
                            <a:srgbClr val="0F1B2D"/>
                          </a:solidFill>
                          <a:latin typeface="DM Sans" pitchFamily="34" charset="0"/>
                          <a:ea typeface="DM Sans" pitchFamily="34" charset="-122"/>
                          <a:cs typeface="DM Sans" pitchFamily="34" charset="-120"/>
                        </a:rPr>
                        <a:t>Payments</a:t>
                      </a:r>
                      <a:endParaRPr lang="en-US" sz="1300" dirty="0">
                        <a:latin typeface="DM Sans" charset="0"/>
                        <a:ea typeface="DM Sans" charset="0"/>
                        <a:cs typeface="DM Sans" charset="0"/>
                      </a:endParaRPr>
                    </a:p>
                  </a:txBody>
                  <a:tcPr marL="57785" marR="57785" marT="57785" marB="57785">
                    <a:lnL w="12700" cap="flat" cmpd="sng" algn="ctr">
                      <a:solidFill>
                        <a:srgbClr val="C3C1BC"/>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BCBAB3"/>
                      </a:solidFill>
                      <a:prstDash val="solid"/>
                      <a:round/>
                      <a:headEnd type="none" w="med" len="med"/>
                      <a:tailEnd type="none" w="med" len="med"/>
                    </a:lnT>
                    <a:lnB w="12700" cap="flat" cmpd="sng" algn="ctr">
                      <a:solidFill>
                        <a:srgbClr val="C8C7C5"/>
                      </a:solidFill>
                      <a:prstDash val="solid"/>
                      <a:round/>
                      <a:headEnd type="none" w="med" len="med"/>
                      <a:tailEnd type="none" w="med" len="med"/>
                    </a:lnB>
                    <a:solidFill>
                      <a:srgbClr val="FBFAF7"/>
                    </a:solidFill>
                  </a:tcPr>
                </a:tc>
                <a:tc>
                  <a:txBody>
                    <a:bodyPr/>
                    <a:lstStyle/>
                    <a:p>
                      <a:pPr marL="0" indent="0">
                        <a:lnSpc>
                          <a:spcPts val="1820"/>
                        </a:lnSpc>
                        <a:buNone/>
                      </a:pPr>
                      <a:r>
                        <a:rPr lang="en-US" sz="1300" dirty="0">
                          <a:solidFill>
                            <a:srgbClr val="0F1B2D"/>
                          </a:solidFill>
                          <a:latin typeface="DM Sans" pitchFamily="34" charset="0"/>
                          <a:ea typeface="DM Sans" pitchFamily="34" charset="-122"/>
                          <a:cs typeface="DM Sans" pitchFamily="34" charset="-120"/>
                        </a:rPr>
                        <a:t>Full control</a:t>
                      </a:r>
                      <a:endParaRPr lang="en-US" sz="1300" dirty="0">
                        <a:latin typeface="DM Sans" charset="0"/>
                        <a:ea typeface="DM Sans" charset="0"/>
                        <a:cs typeface="DM Sans" charset="0"/>
                      </a:endParaRPr>
                    </a:p>
                  </a:txBody>
                  <a:tcPr marL="57785" marR="57785" marT="57785" marB="57785">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BCBAB3"/>
                      </a:solidFill>
                      <a:prstDash val="solid"/>
                      <a:round/>
                      <a:headEnd type="none" w="med" len="med"/>
                      <a:tailEnd type="none" w="med" len="med"/>
                    </a:lnT>
                    <a:lnB w="12700" cap="flat" cmpd="sng" algn="ctr">
                      <a:solidFill>
                        <a:srgbClr val="C8C7C5"/>
                      </a:solidFill>
                      <a:prstDash val="solid"/>
                      <a:round/>
                      <a:headEnd type="none" w="med" len="med"/>
                      <a:tailEnd type="none" w="med" len="med"/>
                    </a:lnB>
                    <a:solidFill>
                      <a:srgbClr val="FBFAF7"/>
                    </a:solidFill>
                  </a:tcPr>
                </a:tc>
                <a:tc>
                  <a:txBody>
                    <a:bodyPr/>
                    <a:lstStyle/>
                    <a:p>
                      <a:pPr marL="0" indent="0">
                        <a:lnSpc>
                          <a:spcPts val="1820"/>
                        </a:lnSpc>
                        <a:buNone/>
                      </a:pPr>
                      <a:r>
                        <a:rPr lang="en-US" sz="1300" dirty="0">
                          <a:solidFill>
                            <a:srgbClr val="0F1B2D"/>
                          </a:solidFill>
                          <a:latin typeface="DM Sans" pitchFamily="34" charset="0"/>
                          <a:ea typeface="DM Sans" pitchFamily="34" charset="-122"/>
                          <a:cs typeface="DM Sans" pitchFamily="34" charset="-120"/>
                        </a:rPr>
                        <a:t>Record, edit</a:t>
                      </a:r>
                      <a:endParaRPr lang="en-US" sz="1300" dirty="0">
                        <a:latin typeface="DM Sans" charset="0"/>
                        <a:ea typeface="DM Sans" charset="0"/>
                        <a:cs typeface="DM Sans" charset="0"/>
                      </a:endParaRPr>
                    </a:p>
                  </a:txBody>
                  <a:tcPr marL="57785" marR="57785" marT="57785" marB="57785">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BCBAB3"/>
                      </a:solidFill>
                      <a:prstDash val="solid"/>
                      <a:round/>
                      <a:headEnd type="none" w="med" len="med"/>
                      <a:tailEnd type="none" w="med" len="med"/>
                    </a:lnT>
                    <a:lnB w="12700" cap="flat" cmpd="sng" algn="ctr">
                      <a:solidFill>
                        <a:srgbClr val="C8C7C5"/>
                      </a:solidFill>
                      <a:prstDash val="solid"/>
                      <a:round/>
                      <a:headEnd type="none" w="med" len="med"/>
                      <a:tailEnd type="none" w="med" len="med"/>
                    </a:lnB>
                    <a:solidFill>
                      <a:srgbClr val="FBFAF7"/>
                    </a:solidFill>
                  </a:tcPr>
                </a:tc>
                <a:tc>
                  <a:txBody>
                    <a:bodyPr/>
                    <a:lstStyle/>
                    <a:p>
                      <a:pPr marL="0" indent="0">
                        <a:lnSpc>
                          <a:spcPts val="1820"/>
                        </a:lnSpc>
                        <a:buNone/>
                      </a:pPr>
                      <a:r>
                        <a:rPr lang="en-US" sz="1300" dirty="0">
                          <a:solidFill>
                            <a:srgbClr val="0F1B2D"/>
                          </a:solidFill>
                          <a:latin typeface="DM Sans" pitchFamily="34" charset="0"/>
                          <a:ea typeface="DM Sans" pitchFamily="34" charset="-122"/>
                          <a:cs typeface="DM Sans" pitchFamily="34" charset="-120"/>
                        </a:rPr>
                        <a:t>View own invoices</a:t>
                      </a:r>
                      <a:endParaRPr lang="en-US" sz="1300" dirty="0">
                        <a:latin typeface="DM Sans" charset="0"/>
                        <a:ea typeface="DM Sans" charset="0"/>
                        <a:cs typeface="DM Sans" charset="0"/>
                      </a:endParaRPr>
                    </a:p>
                  </a:txBody>
                  <a:tcPr marL="57785" marR="57785" marT="57785" marB="57785">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BCBAB3"/>
                      </a:solidFill>
                      <a:prstDash val="solid"/>
                      <a:round/>
                      <a:headEnd type="none" w="med" len="med"/>
                      <a:tailEnd type="none" w="med" len="med"/>
                    </a:lnT>
                    <a:lnB w="12700" cap="flat" cmpd="sng" algn="ctr">
                      <a:solidFill>
                        <a:srgbClr val="C8C7C5"/>
                      </a:solidFill>
                      <a:prstDash val="solid"/>
                      <a:round/>
                      <a:headEnd type="none" w="med" len="med"/>
                      <a:tailEnd type="none" w="med" len="med"/>
                    </a:lnB>
                    <a:solidFill>
                      <a:srgbClr val="FBFAF7"/>
                    </a:solidFill>
                  </a:tcPr>
                </a:tc>
              </a:tr>
            </a:tbl>
          </a:graphicData>
        </a:graphic>
      </p:graphicFrame>
      <p:sp>
        <p:nvSpPr>
          <p:cNvPr id="20" name="Text 14"/>
          <p:cNvSpPr/>
          <p:nvPr/>
        </p:nvSpPr>
        <p:spPr>
          <a:xfrm>
            <a:off x="812800" y="6238280"/>
            <a:ext cx="65405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472"/>
                </a:solidFill>
                <a:latin typeface="DM Sans" pitchFamily="34" charset="0"/>
                <a:ea typeface="DM Sans" pitchFamily="34" charset="-122"/>
                <a:cs typeface="DM Sans" pitchFamily="34" charset="-120"/>
              </a:rPr>
              <a:t>Freelancer Project Management · MERN Stack</a:t>
            </a:r>
            <a:endParaRPr lang="en-US" sz="1200" dirty="0"/>
          </a:p>
        </p:txBody>
      </p:sp>
      <p:sp>
        <p:nvSpPr>
          <p:cNvPr id="21" name="Text 15"/>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472"/>
                </a:solidFill>
                <a:latin typeface="DM Sans" pitchFamily="34" charset="0"/>
                <a:ea typeface="DM Sans" pitchFamily="34" charset="-122"/>
                <a:cs typeface="DM Sans" pitchFamily="34" charset="-120"/>
              </a:rPr>
              <a:t>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B2D"/>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kern="0" spc="150" dirty="0">
                <a:solidFill>
                  <a:srgbClr val="2DD4BF"/>
                </a:solidFill>
                <a:latin typeface="DM Sans" pitchFamily="34" charset="0"/>
                <a:ea typeface="DM Sans" pitchFamily="34" charset="-122"/>
                <a:cs typeface="DM Sans" pitchFamily="34" charset="-120"/>
              </a:rPr>
              <a:t>LIVE DEMO AND SUMMARY</a:t>
            </a:r>
            <a:endParaRPr lang="en-US" sz="1300" dirty="0"/>
          </a:p>
        </p:txBody>
      </p:sp>
      <p:sp>
        <p:nvSpPr>
          <p:cNvPr id="3" name="Text 1"/>
          <p:cNvSpPr>
            <a:spLocks noGrp="1"/>
          </p:cNvSpPr>
          <p:nvPr>
            <p:ph type="title"/>
          </p:nvPr>
        </p:nvSpPr>
        <p:spPr>
          <a:xfrm>
            <a:off x="812800" y="114548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F4F7FB"/>
                </a:solidFill>
                <a:latin typeface="DM Sans" pitchFamily="34" charset="0"/>
                <a:ea typeface="DM Sans" pitchFamily="34" charset="-122"/>
                <a:cs typeface="DM Sans" pitchFamily="34" charset="-120"/>
              </a:rPr>
              <a:t>Demo order</a:t>
            </a:r>
            <a:endParaRPr lang="en-US" sz="3200" dirty="0"/>
          </a:p>
        </p:txBody>
      </p:sp>
      <p:sp>
        <p:nvSpPr>
          <p:cNvPr id="4" name="Shape 2"/>
          <p:cNvSpPr/>
          <p:nvPr/>
        </p:nvSpPr>
        <p:spPr>
          <a:xfrm>
            <a:off x="815975" y="1824236"/>
            <a:ext cx="5200650" cy="859631"/>
          </a:xfrm>
          <a:prstGeom prst="roundRect">
            <a:avLst>
              <a:gd name="adj" fmla="val 14404"/>
            </a:avLst>
          </a:prstGeom>
          <a:solidFill>
            <a:srgbClr val="172742"/>
          </a:solidFill>
          <a:ln w="6350">
            <a:solidFill>
              <a:srgbClr val="26395C"/>
            </a:solidFill>
            <a:prstDash val="solid"/>
          </a:ln>
        </p:spPr>
      </p:sp>
      <p:sp>
        <p:nvSpPr>
          <p:cNvPr id="5" name="Text 3"/>
          <p:cNvSpPr/>
          <p:nvPr/>
        </p:nvSpPr>
        <p:spPr>
          <a:xfrm>
            <a:off x="1047750" y="1979811"/>
            <a:ext cx="4879213"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5B942"/>
                </a:solidFill>
                <a:latin typeface="DM Sans" pitchFamily="34" charset="0"/>
                <a:ea typeface="DM Sans" pitchFamily="34" charset="-122"/>
                <a:cs typeface="DM Sans" pitchFamily="34" charset="-120"/>
              </a:rPr>
              <a:t>1</a:t>
            </a:r>
            <a:r>
              <a:rPr lang="en-US" sz="1800" b="1" dirty="0">
                <a:solidFill>
                  <a:srgbClr val="F4F7FB"/>
                </a:solidFill>
                <a:latin typeface="DM Sans" pitchFamily="34" charset="0"/>
                <a:ea typeface="DM Sans" pitchFamily="34" charset="-122"/>
                <a:cs typeface="DM Sans" pitchFamily="34" charset="-120"/>
              </a:rPr>
              <a:t> Architecture</a:t>
            </a:r>
            <a:endParaRPr lang="en-US" sz="1800" dirty="0"/>
          </a:p>
        </p:txBody>
      </p:sp>
      <p:sp>
        <p:nvSpPr>
          <p:cNvPr id="6" name="Text 4"/>
          <p:cNvSpPr/>
          <p:nvPr/>
        </p:nvSpPr>
        <p:spPr>
          <a:xfrm>
            <a:off x="1047750" y="2279452"/>
            <a:ext cx="4879213"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AAB8CC"/>
                </a:solidFill>
                <a:latin typeface="DM Sans" pitchFamily="34" charset="0"/>
                <a:ea typeface="DM Sans" pitchFamily="34" charset="-122"/>
                <a:cs typeface="DM Sans" pitchFamily="34" charset="-120"/>
              </a:rPr>
              <a:t>Walk through the MERN diagram.</a:t>
            </a:r>
            <a:endParaRPr lang="en-US" sz="1400" dirty="0"/>
          </a:p>
        </p:txBody>
      </p:sp>
      <p:sp>
        <p:nvSpPr>
          <p:cNvPr id="7" name="Shape 5"/>
          <p:cNvSpPr/>
          <p:nvPr/>
        </p:nvSpPr>
        <p:spPr>
          <a:xfrm>
            <a:off x="6175375" y="1824236"/>
            <a:ext cx="5200650" cy="859631"/>
          </a:xfrm>
          <a:prstGeom prst="roundRect">
            <a:avLst>
              <a:gd name="adj" fmla="val 14404"/>
            </a:avLst>
          </a:prstGeom>
          <a:solidFill>
            <a:srgbClr val="172742"/>
          </a:solidFill>
          <a:ln w="6350">
            <a:solidFill>
              <a:srgbClr val="26395C"/>
            </a:solidFill>
            <a:prstDash val="solid"/>
          </a:ln>
        </p:spPr>
      </p:sp>
      <p:sp>
        <p:nvSpPr>
          <p:cNvPr id="8" name="Text 6"/>
          <p:cNvSpPr/>
          <p:nvPr/>
        </p:nvSpPr>
        <p:spPr>
          <a:xfrm>
            <a:off x="6407150" y="1979811"/>
            <a:ext cx="4879213"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5B942"/>
                </a:solidFill>
                <a:latin typeface="DM Sans" pitchFamily="34" charset="0"/>
                <a:ea typeface="DM Sans" pitchFamily="34" charset="-122"/>
                <a:cs typeface="DM Sans" pitchFamily="34" charset="-120"/>
              </a:rPr>
              <a:t>2</a:t>
            </a:r>
            <a:r>
              <a:rPr lang="en-US" sz="1800" b="1" dirty="0">
                <a:solidFill>
                  <a:srgbClr val="F4F7FB"/>
                </a:solidFill>
                <a:latin typeface="DM Sans" pitchFamily="34" charset="0"/>
                <a:ea typeface="DM Sans" pitchFamily="34" charset="-122"/>
                <a:cs typeface="DM Sans" pitchFamily="34" charset="-120"/>
              </a:rPr>
              <a:t> CRUD</a:t>
            </a:r>
            <a:endParaRPr lang="en-US" sz="1800" dirty="0"/>
          </a:p>
        </p:txBody>
      </p:sp>
      <p:sp>
        <p:nvSpPr>
          <p:cNvPr id="9" name="Text 7"/>
          <p:cNvSpPr/>
          <p:nvPr/>
        </p:nvSpPr>
        <p:spPr>
          <a:xfrm>
            <a:off x="6407150" y="2279452"/>
            <a:ext cx="4879213"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AAB8CC"/>
                </a:solidFill>
                <a:latin typeface="DM Sans" pitchFamily="34" charset="0"/>
                <a:ea typeface="DM Sans" pitchFamily="34" charset="-122"/>
                <a:cs typeface="DM Sans" pitchFamily="34" charset="-120"/>
              </a:rPr>
              <a:t>Create, view, edit, delete a client and a project.</a:t>
            </a:r>
            <a:endParaRPr lang="en-US" sz="1400" dirty="0"/>
          </a:p>
        </p:txBody>
      </p:sp>
      <p:sp>
        <p:nvSpPr>
          <p:cNvPr id="10" name="Shape 8"/>
          <p:cNvSpPr/>
          <p:nvPr/>
        </p:nvSpPr>
        <p:spPr>
          <a:xfrm>
            <a:off x="815975" y="2842617"/>
            <a:ext cx="5200650" cy="859631"/>
          </a:xfrm>
          <a:prstGeom prst="roundRect">
            <a:avLst>
              <a:gd name="adj" fmla="val 14404"/>
            </a:avLst>
          </a:prstGeom>
          <a:solidFill>
            <a:srgbClr val="172742"/>
          </a:solidFill>
          <a:ln w="6350">
            <a:solidFill>
              <a:srgbClr val="26395C"/>
            </a:solidFill>
            <a:prstDash val="solid"/>
          </a:ln>
        </p:spPr>
      </p:sp>
      <p:sp>
        <p:nvSpPr>
          <p:cNvPr id="11" name="Text 9"/>
          <p:cNvSpPr/>
          <p:nvPr/>
        </p:nvSpPr>
        <p:spPr>
          <a:xfrm>
            <a:off x="1047750" y="2998192"/>
            <a:ext cx="4879213"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5B942"/>
                </a:solidFill>
                <a:latin typeface="DM Sans" pitchFamily="34" charset="0"/>
                <a:ea typeface="DM Sans" pitchFamily="34" charset="-122"/>
                <a:cs typeface="DM Sans" pitchFamily="34" charset="-120"/>
              </a:rPr>
              <a:t>3</a:t>
            </a:r>
            <a:r>
              <a:rPr lang="en-US" sz="1800" b="1" dirty="0">
                <a:solidFill>
                  <a:srgbClr val="F4F7FB"/>
                </a:solidFill>
                <a:latin typeface="DM Sans" pitchFamily="34" charset="0"/>
                <a:ea typeface="DM Sans" pitchFamily="34" charset="-122"/>
                <a:cs typeface="DM Sans" pitchFamily="34" charset="-120"/>
              </a:rPr>
              <a:t> REST APIs</a:t>
            </a:r>
            <a:endParaRPr lang="en-US" sz="1800" dirty="0"/>
          </a:p>
        </p:txBody>
      </p:sp>
      <p:sp>
        <p:nvSpPr>
          <p:cNvPr id="12" name="Text 10"/>
          <p:cNvSpPr/>
          <p:nvPr/>
        </p:nvSpPr>
        <p:spPr>
          <a:xfrm>
            <a:off x="1047750" y="3297833"/>
            <a:ext cx="4879213"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AAB8CC"/>
                </a:solidFill>
                <a:latin typeface="DM Sans" pitchFamily="34" charset="0"/>
                <a:ea typeface="DM Sans" pitchFamily="34" charset="-122"/>
                <a:cs typeface="DM Sans" pitchFamily="34" charset="-120"/>
              </a:rPr>
              <a:t>Show requests in Postman or the Network tab.</a:t>
            </a:r>
            <a:endParaRPr lang="en-US" sz="1400" dirty="0"/>
          </a:p>
        </p:txBody>
      </p:sp>
      <p:sp>
        <p:nvSpPr>
          <p:cNvPr id="13" name="Shape 11"/>
          <p:cNvSpPr/>
          <p:nvPr/>
        </p:nvSpPr>
        <p:spPr>
          <a:xfrm>
            <a:off x="6175375" y="2842617"/>
            <a:ext cx="5200650" cy="859631"/>
          </a:xfrm>
          <a:prstGeom prst="roundRect">
            <a:avLst>
              <a:gd name="adj" fmla="val 14404"/>
            </a:avLst>
          </a:prstGeom>
          <a:solidFill>
            <a:srgbClr val="172742"/>
          </a:solidFill>
          <a:ln w="6350">
            <a:solidFill>
              <a:srgbClr val="26395C"/>
            </a:solidFill>
            <a:prstDash val="solid"/>
          </a:ln>
        </p:spPr>
      </p:sp>
      <p:sp>
        <p:nvSpPr>
          <p:cNvPr id="14" name="Text 12"/>
          <p:cNvSpPr/>
          <p:nvPr/>
        </p:nvSpPr>
        <p:spPr>
          <a:xfrm>
            <a:off x="6407150" y="2998192"/>
            <a:ext cx="4879213"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5B942"/>
                </a:solidFill>
                <a:latin typeface="DM Sans" pitchFamily="34" charset="0"/>
                <a:ea typeface="DM Sans" pitchFamily="34" charset="-122"/>
                <a:cs typeface="DM Sans" pitchFamily="34" charset="-120"/>
              </a:rPr>
              <a:t>4</a:t>
            </a:r>
            <a:r>
              <a:rPr lang="en-US" sz="1800" b="1" dirty="0">
                <a:solidFill>
                  <a:srgbClr val="F4F7FB"/>
                </a:solidFill>
                <a:latin typeface="DM Sans" pitchFamily="34" charset="0"/>
                <a:ea typeface="DM Sans" pitchFamily="34" charset="-122"/>
                <a:cs typeface="DM Sans" pitchFamily="34" charset="-120"/>
              </a:rPr>
              <a:t> React frontend</a:t>
            </a:r>
            <a:endParaRPr lang="en-US" sz="1800" dirty="0"/>
          </a:p>
        </p:txBody>
      </p:sp>
      <p:sp>
        <p:nvSpPr>
          <p:cNvPr id="15" name="Text 13"/>
          <p:cNvSpPr/>
          <p:nvPr/>
        </p:nvSpPr>
        <p:spPr>
          <a:xfrm>
            <a:off x="6407150" y="3297833"/>
            <a:ext cx="4879213"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AAB8CC"/>
                </a:solidFill>
                <a:latin typeface="DM Sans" pitchFamily="34" charset="0"/>
                <a:ea typeface="DM Sans" pitchFamily="34" charset="-122"/>
                <a:cs typeface="DM Sans" pitchFamily="34" charset="-120"/>
              </a:rPr>
              <a:t>Move through the interface pages.</a:t>
            </a:r>
            <a:endParaRPr lang="en-US" sz="1400" dirty="0"/>
          </a:p>
        </p:txBody>
      </p:sp>
      <p:sp>
        <p:nvSpPr>
          <p:cNvPr id="16" name="Shape 14"/>
          <p:cNvSpPr/>
          <p:nvPr/>
        </p:nvSpPr>
        <p:spPr>
          <a:xfrm>
            <a:off x="815975" y="3860998"/>
            <a:ext cx="5200650" cy="859631"/>
          </a:xfrm>
          <a:prstGeom prst="roundRect">
            <a:avLst>
              <a:gd name="adj" fmla="val 14404"/>
            </a:avLst>
          </a:prstGeom>
          <a:solidFill>
            <a:srgbClr val="172742"/>
          </a:solidFill>
          <a:ln w="6350">
            <a:solidFill>
              <a:srgbClr val="26395C"/>
            </a:solidFill>
            <a:prstDash val="solid"/>
          </a:ln>
        </p:spPr>
      </p:sp>
      <p:sp>
        <p:nvSpPr>
          <p:cNvPr id="17" name="Text 15"/>
          <p:cNvSpPr/>
          <p:nvPr/>
        </p:nvSpPr>
        <p:spPr>
          <a:xfrm>
            <a:off x="1047750" y="4016573"/>
            <a:ext cx="4879213"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5B942"/>
                </a:solidFill>
                <a:latin typeface="DM Sans" pitchFamily="34" charset="0"/>
                <a:ea typeface="DM Sans" pitchFamily="34" charset="-122"/>
                <a:cs typeface="DM Sans" pitchFamily="34" charset="-120"/>
              </a:rPr>
              <a:t>5</a:t>
            </a:r>
            <a:r>
              <a:rPr lang="en-US" sz="1800" b="1" dirty="0">
                <a:solidFill>
                  <a:srgbClr val="F4F7FB"/>
                </a:solidFill>
                <a:latin typeface="DM Sans" pitchFamily="34" charset="0"/>
                <a:ea typeface="DM Sans" pitchFamily="34" charset="-122"/>
                <a:cs typeface="DM Sans" pitchFamily="34" charset="-120"/>
              </a:rPr>
              <a:t> Access control</a:t>
            </a:r>
            <a:endParaRPr lang="en-US" sz="1800" dirty="0"/>
          </a:p>
        </p:txBody>
      </p:sp>
      <p:sp>
        <p:nvSpPr>
          <p:cNvPr id="18" name="Text 16"/>
          <p:cNvSpPr/>
          <p:nvPr/>
        </p:nvSpPr>
        <p:spPr>
          <a:xfrm>
            <a:off x="1047750" y="4316214"/>
            <a:ext cx="4879213"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AAB8CC"/>
                </a:solidFill>
                <a:latin typeface="DM Sans" pitchFamily="34" charset="0"/>
                <a:ea typeface="DM Sans" pitchFamily="34" charset="-122"/>
                <a:cs typeface="DM Sans" pitchFamily="34" charset="-120"/>
              </a:rPr>
              <a:t>Log in as Admin, then as a Client.</a:t>
            </a:r>
            <a:endParaRPr lang="en-US" sz="1400" dirty="0"/>
          </a:p>
        </p:txBody>
      </p:sp>
      <p:sp>
        <p:nvSpPr>
          <p:cNvPr id="19" name="Shape 17"/>
          <p:cNvSpPr/>
          <p:nvPr/>
        </p:nvSpPr>
        <p:spPr>
          <a:xfrm>
            <a:off x="6175375" y="3860998"/>
            <a:ext cx="5200650" cy="859631"/>
          </a:xfrm>
          <a:prstGeom prst="roundRect">
            <a:avLst>
              <a:gd name="adj" fmla="val 14404"/>
            </a:avLst>
          </a:prstGeom>
          <a:solidFill>
            <a:srgbClr val="172742"/>
          </a:solidFill>
          <a:ln w="6350">
            <a:solidFill>
              <a:srgbClr val="26395C"/>
            </a:solidFill>
            <a:prstDash val="solid"/>
          </a:ln>
        </p:spPr>
      </p:sp>
      <p:sp>
        <p:nvSpPr>
          <p:cNvPr id="20" name="Text 18"/>
          <p:cNvSpPr/>
          <p:nvPr/>
        </p:nvSpPr>
        <p:spPr>
          <a:xfrm>
            <a:off x="6407150" y="4016573"/>
            <a:ext cx="4879213"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5B942"/>
                </a:solidFill>
                <a:latin typeface="DM Sans" pitchFamily="34" charset="0"/>
                <a:ea typeface="DM Sans" pitchFamily="34" charset="-122"/>
                <a:cs typeface="DM Sans" pitchFamily="34" charset="-120"/>
              </a:rPr>
              <a:t>6</a:t>
            </a:r>
            <a:r>
              <a:rPr lang="en-US" sz="1800" b="1" dirty="0">
                <a:solidFill>
                  <a:srgbClr val="F4F7FB"/>
                </a:solidFill>
                <a:latin typeface="DM Sans" pitchFamily="34" charset="0"/>
                <a:ea typeface="DM Sans" pitchFamily="34" charset="-122"/>
                <a:cs typeface="DM Sans" pitchFamily="34" charset="-120"/>
              </a:rPr>
              <a:t> Dashboard</a:t>
            </a:r>
            <a:endParaRPr lang="en-US" sz="1800" dirty="0"/>
          </a:p>
        </p:txBody>
      </p:sp>
      <p:sp>
        <p:nvSpPr>
          <p:cNvPr id="21" name="Text 19"/>
          <p:cNvSpPr/>
          <p:nvPr/>
        </p:nvSpPr>
        <p:spPr>
          <a:xfrm>
            <a:off x="6407150" y="4316214"/>
            <a:ext cx="4879213"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AAB8CC"/>
                </a:solidFill>
                <a:latin typeface="DM Sans" pitchFamily="34" charset="0"/>
                <a:ea typeface="DM Sans" pitchFamily="34" charset="-122"/>
                <a:cs typeface="DM Sans" pitchFamily="34" charset="-120"/>
              </a:rPr>
              <a:t>Show the summary information clearly.</a:t>
            </a:r>
            <a:endParaRPr lang="en-US" sz="1400" dirty="0"/>
          </a:p>
        </p:txBody>
      </p:sp>
      <p:sp>
        <p:nvSpPr>
          <p:cNvPr id="22" name="Text 20"/>
          <p:cNvSpPr/>
          <p:nvPr/>
        </p:nvSpPr>
        <p:spPr>
          <a:xfrm>
            <a:off x="812800" y="4952405"/>
            <a:ext cx="10883392"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2DD4BF"/>
                </a:solidFill>
                <a:latin typeface="DM Sans" pitchFamily="34" charset="0"/>
                <a:ea typeface="DM Sans" pitchFamily="34" charset="-122"/>
                <a:cs typeface="DM Sans" pitchFamily="34" charset="-120"/>
              </a:rPr>
              <a:t>Thank you. Questions are welcome.</a:t>
            </a:r>
            <a:endParaRPr lang="en-US" sz="1600" dirty="0"/>
          </a:p>
        </p:txBody>
      </p:sp>
      <p:sp>
        <p:nvSpPr>
          <p:cNvPr id="23" name="Text 21"/>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FA0B8"/>
                </a:solidFill>
                <a:latin typeface="DM Sans" pitchFamily="34" charset="0"/>
                <a:ea typeface="DM Sans" pitchFamily="34" charset="-122"/>
                <a:cs typeface="DM Sans" pitchFamily="34" charset="-120"/>
              </a:rPr>
              <a:t>[Your name] · [Email or GitHub link]</a:t>
            </a:r>
            <a:endParaRPr lang="en-US" sz="1200" dirty="0"/>
          </a:p>
        </p:txBody>
      </p:sp>
      <p:sp>
        <p:nvSpPr>
          <p:cNvPr id="24" name="Text 22"/>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8FA0B8"/>
                </a:solidFill>
                <a:latin typeface="DM Sans" pitchFamily="34" charset="0"/>
                <a:ea typeface="DM Sans" pitchFamily="34" charset="-122"/>
                <a:cs typeface="DM Sans" pitchFamily="34" charset="-120"/>
              </a:rPr>
              <a:t>09</a:t>
            </a:r>
            <a:endParaRPr lang="en-US" sz="1200" dirty="0"/>
          </a:p>
        </p:txBody>
      </p:sp>
    </p:spTree>
  </p:cSld>
  <p:clrMapOvr>
    <a:masterClrMapping/>
  </p:clrMapOvr>
</p:sld>
</file>

<file path=ppt/theme/theme1.xml><?xml version="1.0" encoding="utf-8"?>
<a:theme xmlns:a="http://schemas.openxmlformats.org/drawingml/2006/main" name="Freelancer Project Management">
  <a:themeElements>
    <a:clrScheme name="Freelancer Project Management">
      <a:dk1>
        <a:srgbClr val="0F1B2D"/>
      </a:dk1>
      <a:lt1>
        <a:srgbClr val="F4F2EC"/>
      </a:lt1>
      <a:dk2>
        <a:srgbClr val="48515D"/>
      </a:dk2>
      <a:lt2>
        <a:srgbClr val="DDDDD9"/>
      </a:lt2>
      <a:accent1>
        <a:srgbClr val="2DD4BF"/>
      </a:accent1>
      <a:accent2>
        <a:srgbClr val="0F766E"/>
      </a:accent2>
      <a:accent3>
        <a:srgbClr val="8FA0B8"/>
      </a:accent3>
      <a:accent4>
        <a:srgbClr val="5B6472"/>
      </a:accent4>
      <a:accent5>
        <a:srgbClr val="AAB8CC"/>
      </a:accent5>
      <a:accent6>
        <a:srgbClr val="3F4A5A"/>
      </a:accent6>
      <a:hlink>
        <a:srgbClr val="0563C1"/>
      </a:hlink>
      <a:folHlink>
        <a:srgbClr val="954F72"/>
      </a:folHlink>
    </a:clrScheme>
    <a:fontScheme name="Freelancer Project Management">
      <a:majorFont>
        <a:latin typeface="DM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DM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TotalTime>
  <Words>1177</Words>
  <Application>Microsoft Office PowerPoint</Application>
  <PresentationFormat>Widescreen</PresentationFormat>
  <Paragraphs>204</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DM Sans</vt:lpstr>
      <vt:lpstr>Freelancer Project Management</vt:lpstr>
      <vt:lpstr>Freelancer Project Management</vt:lpstr>
      <vt:lpstr>Manage freelance work in one MERN system</vt:lpstr>
      <vt:lpstr>Three tiers, one JSON conversation</vt:lpstr>
      <vt:lpstr>Five MongoDB collections</vt:lpstr>
      <vt:lpstr>Clients and projects, end to end</vt:lpstr>
      <vt:lpstr>API endpoints</vt:lpstr>
      <vt:lpstr>Project information at a glance</vt:lpstr>
      <vt:lpstr>Different roles see different things</vt:lpstr>
      <vt:lpstr>Demo order</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Freelancer Project Management</dc:title>
  <dc:subject/>
  <dc:creator/>
  <cp:lastModifiedBy>ADMIN</cp:lastModifiedBy>
  <cp:revision>3</cp:revision>
  <dcterms:created xsi:type="dcterms:W3CDTF">2026-10-10T05:22:56Z</dcterms:created>
  <dcterms:modified xsi:type="dcterms:W3CDTF">2026-10-10T05:33:18Z</dcterms:modified>
</cp:coreProperties>
</file>